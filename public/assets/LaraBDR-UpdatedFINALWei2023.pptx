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14_98D09275.xml" ContentType="application/vnd.ms-powerpoint.comments+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74" r:id="rId2"/>
    <p:sldId id="267" r:id="rId3"/>
    <p:sldId id="269" r:id="rId4"/>
    <p:sldId id="272" r:id="rId5"/>
    <p:sldId id="276" r:id="rId6"/>
    <p:sldId id="27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521C33-FF9C-8FB8-CA8D-E373486C72C8}" name="Lara Baldez Duque Ribeiro" initials="LBDR" userId="S::lb117@wellesley.edu::d5ccddd6-bd7a-4778-a7af-6fc5331ac29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7E2E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084"/>
    <p:restoredTop sz="94638"/>
  </p:normalViewPr>
  <p:slideViewPr>
    <p:cSldViewPr snapToGrid="0">
      <p:cViewPr varScale="1">
        <p:scale>
          <a:sx n="107" d="100"/>
          <a:sy n="107" d="100"/>
        </p:scale>
        <p:origin x="168" y="6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omments/modernComment_114_98D09275.xml><?xml version="1.0" encoding="utf-8"?>
<p188:cmLst xmlns:a="http://schemas.openxmlformats.org/drawingml/2006/main" xmlns:r="http://schemas.openxmlformats.org/officeDocument/2006/relationships" xmlns:p188="http://schemas.microsoft.com/office/powerpoint/2018/8/main">
  <p188:cm id="{25FB6BD0-78F8-644A-947A-D12B35FD0C95}" authorId="{B2521C33-FF9C-8FB8-CA8D-E373486C72C8}" created="2023-05-20T03:20:54.649">
    <ac:deMkLst xmlns:ac="http://schemas.microsoft.com/office/drawing/2013/main/command">
      <pc:docMk xmlns:pc="http://schemas.microsoft.com/office/powerpoint/2013/main/command"/>
      <pc:sldMk xmlns:pc="http://schemas.microsoft.com/office/powerpoint/2013/main/command" cId="2563805813" sldId="276"/>
      <ac:spMk id="4" creationId="{E5968107-1B54-B2A0-854A-F51814DEA5F5}"/>
    </ac:deMkLst>
    <p188:txBody>
      <a:bodyPr/>
      <a:lstStyle/>
      <a:p>
        <a:r>
          <a:rPr lang="en-US"/>
          <a:t>Consistent w/ universal findings of left lateralization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A35863-3A2F-6841-99D9-341D5B3F9EE7}" type="datetimeFigureOut">
              <a:rPr lang="en-US" smtClean="0"/>
              <a:t>5/21/23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73CC5B-8976-8844-BC8B-291692CEC3FC}" type="slidenum">
              <a:rPr lang="en-US" smtClean="0"/>
              <a:t>‹#›</a:t>
            </a:fld>
            <a:endParaRPr lang="en-US"/>
          </a:p>
        </p:txBody>
      </p:sp>
    </p:spTree>
    <p:extLst>
      <p:ext uri="{BB962C8B-B14F-4D97-AF65-F5344CB8AC3E}">
        <p14:creationId xmlns:p14="http://schemas.microsoft.com/office/powerpoint/2010/main" val="3065087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73CC5B-8976-8844-BC8B-291692CEC3FC}" type="slidenum">
              <a:rPr lang="en-US" smtClean="0"/>
              <a:t>1</a:t>
            </a:fld>
            <a:endParaRPr lang="en-US"/>
          </a:p>
        </p:txBody>
      </p:sp>
    </p:spTree>
    <p:extLst>
      <p:ext uri="{BB962C8B-B14F-4D97-AF65-F5344CB8AC3E}">
        <p14:creationId xmlns:p14="http://schemas.microsoft.com/office/powerpoint/2010/main" val="727891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MENTION FUNCTIONAL CONNECTIVITY, BUT IT CAN BE IGNORED IN THIS CASE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1" dirty="0">
                <a:latin typeface="Franklin Gothic Medium" panose="020B0603020102020204" pitchFamily="34" charset="0"/>
              </a:rPr>
              <a:t>“it has been shown that the gray and white matter of the brain adapts during language acquisition and development (…). The neural language system which responds to different aspects of language processing, is established around the age of ten/eleven years (….). […] However, previous studies have shown that different brain areas and networks are involved in first and second language processing (…). These processing differences are also reflected in previous structural studies of second language acquisition in adults, which showed changes in the white and gray matter of the brain that extend to areas not involved in first language processing (…). This suggests that a second language learned in adulthood is not processed in the native language system and may involve additional processing tasks such as language switching and cognitive control (…). These processing differences are found even in early bilinguals who learned the second language during childhood and the structural brain adaptation in first language acquisition during childhood differs from later second language learning (…).”</a:t>
            </a:r>
          </a:p>
        </p:txBody>
      </p:sp>
      <p:sp>
        <p:nvSpPr>
          <p:cNvPr id="4" name="Slide Number Placeholder 3"/>
          <p:cNvSpPr>
            <a:spLocks noGrp="1"/>
          </p:cNvSpPr>
          <p:nvPr>
            <p:ph type="sldNum" sz="quarter" idx="5"/>
          </p:nvPr>
        </p:nvSpPr>
        <p:spPr/>
        <p:txBody>
          <a:bodyPr/>
          <a:lstStyle/>
          <a:p>
            <a:fld id="{2773CC5B-8976-8844-BC8B-291692CEC3FC}" type="slidenum">
              <a:rPr lang="en-US" smtClean="0"/>
              <a:t>2</a:t>
            </a:fld>
            <a:endParaRPr lang="en-US"/>
          </a:p>
        </p:txBody>
      </p:sp>
    </p:spTree>
    <p:extLst>
      <p:ext uri="{BB962C8B-B14F-4D97-AF65-F5344CB8AC3E}">
        <p14:creationId xmlns:p14="http://schemas.microsoft.com/office/powerpoint/2010/main" val="3712280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1200" i="1" dirty="0">
              <a:latin typeface="Franklin Gothic Medium" panose="020B0603020102020204" pitchFamily="34" charset="0"/>
            </a:endParaRPr>
          </a:p>
        </p:txBody>
      </p:sp>
      <p:sp>
        <p:nvSpPr>
          <p:cNvPr id="4" name="Slide Number Placeholder 3"/>
          <p:cNvSpPr>
            <a:spLocks noGrp="1"/>
          </p:cNvSpPr>
          <p:nvPr>
            <p:ph type="sldNum" sz="quarter" idx="5"/>
          </p:nvPr>
        </p:nvSpPr>
        <p:spPr/>
        <p:txBody>
          <a:bodyPr/>
          <a:lstStyle/>
          <a:p>
            <a:fld id="{2773CC5B-8976-8844-BC8B-291692CEC3FC}" type="slidenum">
              <a:rPr lang="en-US" smtClean="0"/>
              <a:t>3</a:t>
            </a:fld>
            <a:endParaRPr lang="en-US"/>
          </a:p>
        </p:txBody>
      </p:sp>
    </p:spTree>
    <p:extLst>
      <p:ext uri="{BB962C8B-B14F-4D97-AF65-F5344CB8AC3E}">
        <p14:creationId xmlns:p14="http://schemas.microsoft.com/office/powerpoint/2010/main" val="122898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1" dirty="0">
              <a:latin typeface="Franklin Gothic Medium" panose="020B0603020102020204" pitchFamily="34" charset="0"/>
            </a:endParaRPr>
          </a:p>
        </p:txBody>
      </p:sp>
      <p:sp>
        <p:nvSpPr>
          <p:cNvPr id="4" name="Slide Number Placeholder 3"/>
          <p:cNvSpPr>
            <a:spLocks noGrp="1"/>
          </p:cNvSpPr>
          <p:nvPr>
            <p:ph type="sldNum" sz="quarter" idx="5"/>
          </p:nvPr>
        </p:nvSpPr>
        <p:spPr/>
        <p:txBody>
          <a:bodyPr/>
          <a:lstStyle/>
          <a:p>
            <a:fld id="{2773CC5B-8976-8844-BC8B-291692CEC3FC}" type="slidenum">
              <a:rPr lang="en-US" smtClean="0"/>
              <a:t>4</a:t>
            </a:fld>
            <a:endParaRPr lang="en-US"/>
          </a:p>
        </p:txBody>
      </p:sp>
    </p:spTree>
    <p:extLst>
      <p:ext uri="{BB962C8B-B14F-4D97-AF65-F5344CB8AC3E}">
        <p14:creationId xmlns:p14="http://schemas.microsoft.com/office/powerpoint/2010/main" val="2391639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i="1" dirty="0">
                <a:latin typeface="Franklin Gothic Medium" panose="020B0603020102020204" pitchFamily="34" charset="0"/>
              </a:rPr>
              <a:t>“it has been shown that the gray and white matter of the brain adapts during language acquisition and development (…). The neural language system which responds to different aspects of language processing, is established around the age of ten/eleven years (….). […] However, previous studies have shown that different brain areas and networks are involved in first and second language processing (…). These processing differences are also reflected in previous structural studies of second language acquisition in adults, which showed changes in the white and gray matter of the brain that extend to areas not involved in first language processing (…). This suggests that a second language learned in adulthood is not processed in the native language system and may involve additional processing tasks such as language switching and cognitive control (…). These processing differences are found even in early bilinguals who learned the second language during childhood and the structural brain adaptation in first language acquisition during childhood differs from later second language learning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1" dirty="0">
              <a:latin typeface="Franklin Gothic Medium" panose="020B06030201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Diffusion tensor imaging (DTI) is an MRI technique that uses anisotropic diffusion to estimate the axonal (white matter) organization of the brain. Fiber tractography (FT) is a 3D reconstruction technique to assess neural tracts using data collected by diffusion tensor imaging.</a:t>
            </a:r>
            <a:r>
              <a:rPr lang="en-US" sz="1200" i="1" dirty="0">
                <a:latin typeface="Franklin Gothic Medium" panose="020B0603020102020204" pitchFamily="34" charset="0"/>
              </a:rPr>
              <a:t> (link)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Tractography is a new magnetic resonance technique that enables mapping and, consequently, evaluation of different white matter tracts in the central nervous system. It encompasses acquiring a sequence called diffusion tensor imaging in a common 1.5 or 3 Tesla magnetic resonance equipment, independently or associated to conventional images of the study</a:t>
            </a:r>
            <a:r>
              <a:rPr lang="en-US" sz="1200" i="1" dirty="0">
                <a:latin typeface="Franklin Gothic Medium" panose="020B0603020102020204" pitchFamily="34" charset="0"/>
              </a:rPr>
              <a:t> (link2)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1" dirty="0">
              <a:latin typeface="Franklin Gothic Medium" panose="020B0603020102020204" pitchFamily="34" charset="0"/>
            </a:endParaRPr>
          </a:p>
        </p:txBody>
      </p:sp>
      <p:sp>
        <p:nvSpPr>
          <p:cNvPr id="4" name="Slide Number Placeholder 3"/>
          <p:cNvSpPr>
            <a:spLocks noGrp="1"/>
          </p:cNvSpPr>
          <p:nvPr>
            <p:ph type="sldNum" sz="quarter" idx="5"/>
          </p:nvPr>
        </p:nvSpPr>
        <p:spPr/>
        <p:txBody>
          <a:bodyPr/>
          <a:lstStyle/>
          <a:p>
            <a:fld id="{2773CC5B-8976-8844-BC8B-291692CEC3FC}" type="slidenum">
              <a:rPr lang="en-US" smtClean="0"/>
              <a:t>5</a:t>
            </a:fld>
            <a:endParaRPr lang="en-US"/>
          </a:p>
        </p:txBody>
      </p:sp>
    </p:spTree>
    <p:extLst>
      <p:ext uri="{BB962C8B-B14F-4D97-AF65-F5344CB8AC3E}">
        <p14:creationId xmlns:p14="http://schemas.microsoft.com/office/powerpoint/2010/main" val="1509503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1" dirty="0">
              <a:latin typeface="Franklin Gothic Medium" panose="020B0603020102020204" pitchFamily="34" charset="0"/>
            </a:endParaRPr>
          </a:p>
        </p:txBody>
      </p:sp>
      <p:sp>
        <p:nvSpPr>
          <p:cNvPr id="4" name="Slide Number Placeholder 3"/>
          <p:cNvSpPr>
            <a:spLocks noGrp="1"/>
          </p:cNvSpPr>
          <p:nvPr>
            <p:ph type="sldNum" sz="quarter" idx="5"/>
          </p:nvPr>
        </p:nvSpPr>
        <p:spPr/>
        <p:txBody>
          <a:bodyPr/>
          <a:lstStyle/>
          <a:p>
            <a:fld id="{2773CC5B-8976-8844-BC8B-291692CEC3FC}" type="slidenum">
              <a:rPr lang="en-US" smtClean="0"/>
              <a:t>6</a:t>
            </a:fld>
            <a:endParaRPr lang="en-US"/>
          </a:p>
        </p:txBody>
      </p:sp>
    </p:spTree>
    <p:extLst>
      <p:ext uri="{BB962C8B-B14F-4D97-AF65-F5344CB8AC3E}">
        <p14:creationId xmlns:p14="http://schemas.microsoft.com/office/powerpoint/2010/main" val="1862160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97A3-8B03-B3F7-C2F5-A074CACE07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053535-4B19-C4D4-A7AB-80824BC702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E7718E-2EF7-FAD5-E0D6-CD5072DE5FE3}"/>
              </a:ext>
            </a:extLst>
          </p:cNvPr>
          <p:cNvSpPr>
            <a:spLocks noGrp="1"/>
          </p:cNvSpPr>
          <p:nvPr>
            <p:ph type="dt" sz="half" idx="10"/>
          </p:nvPr>
        </p:nvSpPr>
        <p:spPr/>
        <p:txBody>
          <a:bodyPr/>
          <a:lstStyle/>
          <a:p>
            <a:fld id="{EB4CE7C1-F787-B746-A05C-5029EBFEEAB8}" type="datetime1">
              <a:rPr lang="en-US" smtClean="0"/>
              <a:t>5/21/23</a:t>
            </a:fld>
            <a:endParaRPr lang="en-US"/>
          </a:p>
        </p:txBody>
      </p:sp>
      <p:sp>
        <p:nvSpPr>
          <p:cNvPr id="5" name="Footer Placeholder 4">
            <a:extLst>
              <a:ext uri="{FF2B5EF4-FFF2-40B4-BE49-F238E27FC236}">
                <a16:creationId xmlns:a16="http://schemas.microsoft.com/office/drawing/2014/main" id="{FAA0C184-1883-605D-0AB2-6F76D4CB5B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6CC2F3-DCD9-60D8-5D12-19C1EFA29E05}"/>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4184894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B01A0-0541-51C6-DF74-CCBF273F79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BA8194-F0BE-155A-6ECB-A1E6F0B0C9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2E9CA0-63E4-B1CB-B23D-DA947017E8D2}"/>
              </a:ext>
            </a:extLst>
          </p:cNvPr>
          <p:cNvSpPr>
            <a:spLocks noGrp="1"/>
          </p:cNvSpPr>
          <p:nvPr>
            <p:ph type="dt" sz="half" idx="10"/>
          </p:nvPr>
        </p:nvSpPr>
        <p:spPr/>
        <p:txBody>
          <a:bodyPr/>
          <a:lstStyle/>
          <a:p>
            <a:fld id="{0E36285C-7C34-AC46-B1D8-508695FE54F7}" type="datetime1">
              <a:rPr lang="en-US" smtClean="0"/>
              <a:t>5/21/23</a:t>
            </a:fld>
            <a:endParaRPr lang="en-US"/>
          </a:p>
        </p:txBody>
      </p:sp>
      <p:sp>
        <p:nvSpPr>
          <p:cNvPr id="5" name="Footer Placeholder 4">
            <a:extLst>
              <a:ext uri="{FF2B5EF4-FFF2-40B4-BE49-F238E27FC236}">
                <a16:creationId xmlns:a16="http://schemas.microsoft.com/office/drawing/2014/main" id="{A0AE219B-0F4C-B689-F017-FE24AAD752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913204-E98C-F235-B243-96B7D9B54268}"/>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1853934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0ED84-3ECC-6007-73AA-EE9EBD477B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BB0AAE-085B-DBEB-1BE0-2E68798BDA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473C8F-3A4A-B868-8558-9037940ECBF6}"/>
              </a:ext>
            </a:extLst>
          </p:cNvPr>
          <p:cNvSpPr>
            <a:spLocks noGrp="1"/>
          </p:cNvSpPr>
          <p:nvPr>
            <p:ph type="dt" sz="half" idx="10"/>
          </p:nvPr>
        </p:nvSpPr>
        <p:spPr/>
        <p:txBody>
          <a:bodyPr/>
          <a:lstStyle/>
          <a:p>
            <a:fld id="{78207D23-3E14-054F-8FE6-94107FB6B7B6}" type="datetime1">
              <a:rPr lang="en-US" smtClean="0"/>
              <a:t>5/21/23</a:t>
            </a:fld>
            <a:endParaRPr lang="en-US"/>
          </a:p>
        </p:txBody>
      </p:sp>
      <p:sp>
        <p:nvSpPr>
          <p:cNvPr id="5" name="Footer Placeholder 4">
            <a:extLst>
              <a:ext uri="{FF2B5EF4-FFF2-40B4-BE49-F238E27FC236}">
                <a16:creationId xmlns:a16="http://schemas.microsoft.com/office/drawing/2014/main" id="{5AFBF542-E448-E6EA-6646-EDD5B0F297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A3D284-C4DF-F931-30A9-8CE6861C703F}"/>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3004203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27E06-E468-40B2-C069-1DAEEAD9C0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351F12-E6D2-66BA-D37C-B522B4E62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B16279-15F1-2A88-F7E6-3D63575CD0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FA1989-B8D2-AE4B-A2CA-5D70B5E94DF5}"/>
              </a:ext>
            </a:extLst>
          </p:cNvPr>
          <p:cNvSpPr>
            <a:spLocks noGrp="1"/>
          </p:cNvSpPr>
          <p:nvPr>
            <p:ph type="dt" sz="half" idx="10"/>
          </p:nvPr>
        </p:nvSpPr>
        <p:spPr/>
        <p:txBody>
          <a:bodyPr/>
          <a:lstStyle/>
          <a:p>
            <a:fld id="{1ED78DB4-8BAC-9A4D-83E7-022D44237965}" type="datetime1">
              <a:rPr lang="en-US" smtClean="0"/>
              <a:t>5/21/23</a:t>
            </a:fld>
            <a:endParaRPr lang="en-US"/>
          </a:p>
        </p:txBody>
      </p:sp>
      <p:sp>
        <p:nvSpPr>
          <p:cNvPr id="6" name="Footer Placeholder 5">
            <a:extLst>
              <a:ext uri="{FF2B5EF4-FFF2-40B4-BE49-F238E27FC236}">
                <a16:creationId xmlns:a16="http://schemas.microsoft.com/office/drawing/2014/main" id="{AC0D047E-87D3-3317-3F14-992301B72C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31C590-DEBF-CC8E-EE59-60B0F81CCB4B}"/>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53839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5C46-B5EB-AB6F-0B54-641E64B79B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FC51B0-DC68-65B0-5C09-37BDC26DCE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2ED806-925C-A4D0-345C-AE22664FB3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17C718-E9F2-8BCB-6434-36BAC3F222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A899A1-85D7-7EA7-2F9D-E2637F1BA7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CEB03A-3459-F60F-BF4C-EE69DFFCD9BF}"/>
              </a:ext>
            </a:extLst>
          </p:cNvPr>
          <p:cNvSpPr>
            <a:spLocks noGrp="1"/>
          </p:cNvSpPr>
          <p:nvPr>
            <p:ph type="dt" sz="half" idx="10"/>
          </p:nvPr>
        </p:nvSpPr>
        <p:spPr/>
        <p:txBody>
          <a:bodyPr/>
          <a:lstStyle/>
          <a:p>
            <a:fld id="{22B80980-04AC-E04D-A2FB-67E85779E830}" type="datetime1">
              <a:rPr lang="en-US" smtClean="0"/>
              <a:t>5/21/23</a:t>
            </a:fld>
            <a:endParaRPr lang="en-US"/>
          </a:p>
        </p:txBody>
      </p:sp>
      <p:sp>
        <p:nvSpPr>
          <p:cNvPr id="8" name="Footer Placeholder 7">
            <a:extLst>
              <a:ext uri="{FF2B5EF4-FFF2-40B4-BE49-F238E27FC236}">
                <a16:creationId xmlns:a16="http://schemas.microsoft.com/office/drawing/2014/main" id="{1C709F7E-CF17-2476-5990-3A089ECE77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18769D6-C7E2-EC86-710C-D3AA96032E1D}"/>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117496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18778-EDE8-FFD3-8D7D-72FF70F006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E321D0-3FB7-8733-5D13-32785BF6FE95}"/>
              </a:ext>
            </a:extLst>
          </p:cNvPr>
          <p:cNvSpPr>
            <a:spLocks noGrp="1"/>
          </p:cNvSpPr>
          <p:nvPr>
            <p:ph type="dt" sz="half" idx="10"/>
          </p:nvPr>
        </p:nvSpPr>
        <p:spPr/>
        <p:txBody>
          <a:bodyPr/>
          <a:lstStyle/>
          <a:p>
            <a:fld id="{E8FB03FE-C999-CF45-B8CB-9B90955E5EDD}" type="datetime1">
              <a:rPr lang="en-US" smtClean="0"/>
              <a:t>5/21/23</a:t>
            </a:fld>
            <a:endParaRPr lang="en-US"/>
          </a:p>
        </p:txBody>
      </p:sp>
      <p:sp>
        <p:nvSpPr>
          <p:cNvPr id="4" name="Footer Placeholder 3">
            <a:extLst>
              <a:ext uri="{FF2B5EF4-FFF2-40B4-BE49-F238E27FC236}">
                <a16:creationId xmlns:a16="http://schemas.microsoft.com/office/drawing/2014/main" id="{B47FF4B9-7271-04ED-B2CA-FEE09CA7AB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E19361-54ED-2B95-4823-427E3007F702}"/>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3916422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1B9EFC-D367-E8DB-5939-41EABB2B087C}"/>
              </a:ext>
            </a:extLst>
          </p:cNvPr>
          <p:cNvSpPr>
            <a:spLocks noGrp="1"/>
          </p:cNvSpPr>
          <p:nvPr>
            <p:ph type="dt" sz="half" idx="10"/>
          </p:nvPr>
        </p:nvSpPr>
        <p:spPr/>
        <p:txBody>
          <a:bodyPr/>
          <a:lstStyle/>
          <a:p>
            <a:fld id="{7829573C-6257-5A40-B744-9A4C02F7EFE1}" type="datetime1">
              <a:rPr lang="en-US" smtClean="0"/>
              <a:t>5/21/23</a:t>
            </a:fld>
            <a:endParaRPr lang="en-US"/>
          </a:p>
        </p:txBody>
      </p:sp>
      <p:sp>
        <p:nvSpPr>
          <p:cNvPr id="3" name="Footer Placeholder 2">
            <a:extLst>
              <a:ext uri="{FF2B5EF4-FFF2-40B4-BE49-F238E27FC236}">
                <a16:creationId xmlns:a16="http://schemas.microsoft.com/office/drawing/2014/main" id="{367F766E-9986-D120-C1D8-A6BAB04428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0E57C6-B871-E76A-0E69-17FA66D46057}"/>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1790705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A6A17-44D7-556F-B4CB-6FF4151FCE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3665BD-1EB9-46D8-DA8A-1CE71C2586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63CAC7-9C22-3B3C-A556-B2E660089E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D9151C-C4C2-DC8F-7ED8-7F966EE8AFF6}"/>
              </a:ext>
            </a:extLst>
          </p:cNvPr>
          <p:cNvSpPr>
            <a:spLocks noGrp="1"/>
          </p:cNvSpPr>
          <p:nvPr>
            <p:ph type="dt" sz="half" idx="10"/>
          </p:nvPr>
        </p:nvSpPr>
        <p:spPr/>
        <p:txBody>
          <a:bodyPr/>
          <a:lstStyle/>
          <a:p>
            <a:fld id="{5B4C6721-51CD-AF4E-BFD1-48C130730DE0}" type="datetime1">
              <a:rPr lang="en-US" smtClean="0"/>
              <a:t>5/21/23</a:t>
            </a:fld>
            <a:endParaRPr lang="en-US"/>
          </a:p>
        </p:txBody>
      </p:sp>
      <p:sp>
        <p:nvSpPr>
          <p:cNvPr id="6" name="Footer Placeholder 5">
            <a:extLst>
              <a:ext uri="{FF2B5EF4-FFF2-40B4-BE49-F238E27FC236}">
                <a16:creationId xmlns:a16="http://schemas.microsoft.com/office/drawing/2014/main" id="{8A3F5D06-B2B4-DB72-12B7-F27C1B2CF6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56B3CF-055F-EFD9-9386-6F334867C751}"/>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2623132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0403A-7DF3-99AA-E800-4803CB6A9D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1440D3-9F0F-A8E5-A518-70F3AD76E9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966101-6000-0DE2-D9FA-3ECA9F3073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5AB0AD-EA51-D5AF-E576-04F632AA49A6}"/>
              </a:ext>
            </a:extLst>
          </p:cNvPr>
          <p:cNvSpPr>
            <a:spLocks noGrp="1"/>
          </p:cNvSpPr>
          <p:nvPr>
            <p:ph type="dt" sz="half" idx="10"/>
          </p:nvPr>
        </p:nvSpPr>
        <p:spPr/>
        <p:txBody>
          <a:bodyPr/>
          <a:lstStyle/>
          <a:p>
            <a:fld id="{A8E1A0BB-1006-CE43-ADBC-B907D97BF860}" type="datetime1">
              <a:rPr lang="en-US" smtClean="0"/>
              <a:t>5/21/23</a:t>
            </a:fld>
            <a:endParaRPr lang="en-US"/>
          </a:p>
        </p:txBody>
      </p:sp>
      <p:sp>
        <p:nvSpPr>
          <p:cNvPr id="6" name="Footer Placeholder 5">
            <a:extLst>
              <a:ext uri="{FF2B5EF4-FFF2-40B4-BE49-F238E27FC236}">
                <a16:creationId xmlns:a16="http://schemas.microsoft.com/office/drawing/2014/main" id="{D0039CD7-A1EF-8495-E6F5-4D6EFBA504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E7F921-B775-1E40-1CDE-7ABE0B717F27}"/>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2472374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06EF0-E701-06F6-A765-4AEAE5754A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1FDA3B-C624-50E6-8DA4-991F474E05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C060E-01DC-8635-43F0-87C9CDC52C43}"/>
              </a:ext>
            </a:extLst>
          </p:cNvPr>
          <p:cNvSpPr>
            <a:spLocks noGrp="1"/>
          </p:cNvSpPr>
          <p:nvPr>
            <p:ph type="dt" sz="half" idx="10"/>
          </p:nvPr>
        </p:nvSpPr>
        <p:spPr/>
        <p:txBody>
          <a:bodyPr/>
          <a:lstStyle/>
          <a:p>
            <a:fld id="{D51FD523-2CC1-5C4A-8405-E94C51568EBB}" type="datetime1">
              <a:rPr lang="en-US" smtClean="0"/>
              <a:t>5/21/23</a:t>
            </a:fld>
            <a:endParaRPr lang="en-US"/>
          </a:p>
        </p:txBody>
      </p:sp>
      <p:sp>
        <p:nvSpPr>
          <p:cNvPr id="5" name="Footer Placeholder 4">
            <a:extLst>
              <a:ext uri="{FF2B5EF4-FFF2-40B4-BE49-F238E27FC236}">
                <a16:creationId xmlns:a16="http://schemas.microsoft.com/office/drawing/2014/main" id="{3FD5C979-7300-4EFD-719A-259AB84D05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D690C-AD45-97CF-3AA5-B8DDF08BFE52}"/>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887155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8902A3-5800-F82B-10B6-428118CA6B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7A767E-3ADC-63AF-F5FF-F55E58BF73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CA3F05-326E-9909-3E55-690F9BC1F4ED}"/>
              </a:ext>
            </a:extLst>
          </p:cNvPr>
          <p:cNvSpPr>
            <a:spLocks noGrp="1"/>
          </p:cNvSpPr>
          <p:nvPr>
            <p:ph type="dt" sz="half" idx="10"/>
          </p:nvPr>
        </p:nvSpPr>
        <p:spPr/>
        <p:txBody>
          <a:bodyPr/>
          <a:lstStyle/>
          <a:p>
            <a:fld id="{333FE7A1-964D-B64C-8892-70613B1523D0}" type="datetime1">
              <a:rPr lang="en-US" smtClean="0"/>
              <a:t>5/21/23</a:t>
            </a:fld>
            <a:endParaRPr lang="en-US"/>
          </a:p>
        </p:txBody>
      </p:sp>
      <p:sp>
        <p:nvSpPr>
          <p:cNvPr id="5" name="Footer Placeholder 4">
            <a:extLst>
              <a:ext uri="{FF2B5EF4-FFF2-40B4-BE49-F238E27FC236}">
                <a16:creationId xmlns:a16="http://schemas.microsoft.com/office/drawing/2014/main" id="{8B6AA441-456F-9897-136D-7013B50E67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FD570A-4AD9-F112-82AF-8582B0E975F9}"/>
              </a:ext>
            </a:extLst>
          </p:cNvPr>
          <p:cNvSpPr>
            <a:spLocks noGrp="1"/>
          </p:cNvSpPr>
          <p:nvPr>
            <p:ph type="sldNum" sz="quarter" idx="12"/>
          </p:nvPr>
        </p:nvSpPr>
        <p:spPr/>
        <p:txBody>
          <a:bodyPr/>
          <a:lstStyle/>
          <a:p>
            <a:fld id="{2E7CF561-7B99-E44F-923B-79EAE0C9A6C5}" type="slidenum">
              <a:rPr lang="en-US" smtClean="0"/>
              <a:t>‹#›</a:t>
            </a:fld>
            <a:endParaRPr lang="en-US"/>
          </a:p>
        </p:txBody>
      </p:sp>
    </p:spTree>
    <p:extLst>
      <p:ext uri="{BB962C8B-B14F-4D97-AF65-F5344CB8AC3E}">
        <p14:creationId xmlns:p14="http://schemas.microsoft.com/office/powerpoint/2010/main" val="4218594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105BC0-14EB-D3EF-458D-DE38FE97C2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F99E92-C054-A83F-B7A1-56EAD4B19A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7D97AC-549E-F9D0-15D2-A09B27A3E4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27389F-9CFB-F345-A859-2E5A748CB78F}" type="datetime1">
              <a:rPr lang="en-US" smtClean="0"/>
              <a:t>5/21/23</a:t>
            </a:fld>
            <a:endParaRPr lang="en-US"/>
          </a:p>
        </p:txBody>
      </p:sp>
      <p:sp>
        <p:nvSpPr>
          <p:cNvPr id="5" name="Footer Placeholder 4">
            <a:extLst>
              <a:ext uri="{FF2B5EF4-FFF2-40B4-BE49-F238E27FC236}">
                <a16:creationId xmlns:a16="http://schemas.microsoft.com/office/drawing/2014/main" id="{8F8C4E3E-1279-5EC6-1180-285F74E536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9FE9D4F-9931-C378-FDEC-36753B2C7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7CF561-7B99-E44F-923B-79EAE0C9A6C5}" type="slidenum">
              <a:rPr lang="en-US" smtClean="0"/>
              <a:t>‹#›</a:t>
            </a:fld>
            <a:endParaRPr lang="en-US"/>
          </a:p>
        </p:txBody>
      </p:sp>
    </p:spTree>
    <p:extLst>
      <p:ext uri="{BB962C8B-B14F-4D97-AF65-F5344CB8AC3E}">
        <p14:creationId xmlns:p14="http://schemas.microsoft.com/office/powerpoint/2010/main" val="2770644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ideo" Target="https://www.youtube.com/embed/fpZL-QcOqFs?feature=oembed" TargetMode="External"/><Relationship Id="rId5" Type="http://schemas.openxmlformats.org/officeDocument/2006/relationships/image" Target="../media/image2.jpe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9.png"/><Relationship Id="rId3" Type="http://schemas.openxmlformats.org/officeDocument/2006/relationships/image" Target="../media/image3.jpeg"/><Relationship Id="rId7" Type="http://schemas.openxmlformats.org/officeDocument/2006/relationships/image" Target="../media/image5.jpeg"/><Relationship Id="rId12" Type="http://schemas.microsoft.com/office/2007/relationships/hdphoto" Target="../media/hdphoto2.wdp"/><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frontiersin.org/articles/10.3389/fneur.2021.641586/full" TargetMode="External"/><Relationship Id="rId11" Type="http://schemas.openxmlformats.org/officeDocument/2006/relationships/image" Target="../media/image8.png"/><Relationship Id="rId5" Type="http://schemas.openxmlformats.org/officeDocument/2006/relationships/image" Target="../media/image4.jpeg"/><Relationship Id="rId10" Type="http://schemas.microsoft.com/office/2007/relationships/hdphoto" Target="../media/hdphoto1.wdp"/><Relationship Id="rId4" Type="http://schemas.openxmlformats.org/officeDocument/2006/relationships/hyperlink" Target="https://www.sciencedirect.com/science/article/pii/S1053811921007187" TargetMode="External"/><Relationship Id="rId9" Type="http://schemas.openxmlformats.org/officeDocument/2006/relationships/image" Target="../media/image7.png"/><Relationship Id="rId14" Type="http://schemas.microsoft.com/office/2007/relationships/hdphoto" Target="../media/hdphoto3.wdp"/></Relationships>
</file>

<file path=ppt/slides/_rels/slide3.xml.rels><?xml version="1.0" encoding="UTF-8" standalone="yes"?>
<Relationships xmlns="http://schemas.openxmlformats.org/package/2006/relationships"><Relationship Id="rId3" Type="http://schemas.openxmlformats.org/officeDocument/2006/relationships/hyperlink" Target="https://www.frontiersin.org/articles/10.3389/fnhum.2017.00476/full"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hyperlink" Target="https://journals.physiology.org/doi/full/10.1152/physrev.00006.2011" TargetMode="Externa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hyperlink" Target="https://www.embopress.org/doi/full/10.1002/emmm.201404055"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hyperlink" Target="https://www.sciencedirect.com/science/article/pii/S1053811923001015#sec0002" TargetMode="Externa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microsoft.com/office/2018/10/relationships/comments" Target="../comments/modernComment_114_98D09275.xm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7E2E9"/>
        </a:solidFill>
        <a:effectLst/>
      </p:bgPr>
    </p:bg>
    <p:spTree>
      <p:nvGrpSpPr>
        <p:cNvPr id="1" name=""/>
        <p:cNvGrpSpPr/>
        <p:nvPr/>
      </p:nvGrpSpPr>
      <p:grpSpPr>
        <a:xfrm>
          <a:off x="0" y="0"/>
          <a:ext cx="0" cy="0"/>
          <a:chOff x="0" y="0"/>
          <a:chExt cx="0" cy="0"/>
        </a:xfrm>
      </p:grpSpPr>
      <p:pic>
        <p:nvPicPr>
          <p:cNvPr id="9" name="Online Media 8" descr="What is the Connectome? Mapping Neurons in the Brain">
            <a:hlinkClick r:id="" action="ppaction://media"/>
            <a:extLst>
              <a:ext uri="{FF2B5EF4-FFF2-40B4-BE49-F238E27FC236}">
                <a16:creationId xmlns:a16="http://schemas.microsoft.com/office/drawing/2014/main" id="{2FDA49BA-973E-3873-8DD6-7E6F57EF67ED}"/>
              </a:ext>
            </a:extLst>
          </p:cNvPr>
          <p:cNvPicPr>
            <a:picLocks noRot="1" noChangeAspect="1"/>
          </p:cNvPicPr>
          <p:nvPr>
            <a:videoFile r:link="rId1"/>
          </p:nvPr>
        </p:nvPicPr>
        <p:blipFill>
          <a:blip r:embed="rId4"/>
          <a:stretch>
            <a:fillRect/>
          </a:stretch>
        </p:blipFill>
        <p:spPr>
          <a:xfrm>
            <a:off x="1408544" y="725864"/>
            <a:ext cx="10594725" cy="5986020"/>
          </a:xfrm>
          <a:prstGeom prst="rect">
            <a:avLst/>
          </a:prstGeom>
        </p:spPr>
      </p:pic>
      <p:sp>
        <p:nvSpPr>
          <p:cNvPr id="6" name="connectomeBlack">
            <a:extLst>
              <a:ext uri="{FF2B5EF4-FFF2-40B4-BE49-F238E27FC236}">
                <a16:creationId xmlns:a16="http://schemas.microsoft.com/office/drawing/2014/main" id="{514CD9E5-C631-25BE-83AF-04C8FBB8690B}"/>
              </a:ext>
            </a:extLst>
          </p:cNvPr>
          <p:cNvSpPr>
            <a:spLocks noGrp="1"/>
          </p:cNvSpPr>
          <p:nvPr/>
        </p:nvSpPr>
        <p:spPr>
          <a:xfrm>
            <a:off x="956235" y="808608"/>
            <a:ext cx="10279529" cy="23876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i="1">
                <a:solidFill>
                  <a:schemeClr val="bg2">
                    <a:lumMod val="90000"/>
                  </a:schemeClr>
                </a:solidFill>
                <a:latin typeface="Franklin Gothic Heavy" panose="020B0603020102020204" pitchFamily="34" charset="0"/>
              </a:rPr>
              <a:t>Native language differences in the structural </a:t>
            </a:r>
            <a:r>
              <a:rPr lang="en-US" sz="4000" b="1" i="1">
                <a:latin typeface="Franklin Gothic Heavy" panose="020B0603020102020204" pitchFamily="34" charset="0"/>
              </a:rPr>
              <a:t>connectome</a:t>
            </a:r>
            <a:r>
              <a:rPr lang="en-US" sz="4000" b="1" i="1">
                <a:solidFill>
                  <a:schemeClr val="bg2">
                    <a:lumMod val="75000"/>
                  </a:schemeClr>
                </a:solidFill>
                <a:latin typeface="Franklin Gothic Heavy" panose="020B0603020102020204" pitchFamily="34" charset="0"/>
              </a:rPr>
              <a:t> </a:t>
            </a:r>
            <a:r>
              <a:rPr lang="en-US" sz="4000" b="1" i="1">
                <a:solidFill>
                  <a:schemeClr val="bg2">
                    <a:lumMod val="90000"/>
                  </a:schemeClr>
                </a:solidFill>
                <a:latin typeface="Franklin Gothic Heavy" panose="020B0603020102020204" pitchFamily="34" charset="0"/>
              </a:rPr>
              <a:t>of the human brain</a:t>
            </a:r>
          </a:p>
        </p:txBody>
      </p:sp>
      <p:sp>
        <p:nvSpPr>
          <p:cNvPr id="2" name="allBlack">
            <a:extLst>
              <a:ext uri="{FF2B5EF4-FFF2-40B4-BE49-F238E27FC236}">
                <a16:creationId xmlns:a16="http://schemas.microsoft.com/office/drawing/2014/main" id="{3E44F823-82BD-70DC-831E-0095DD6BB44E}"/>
              </a:ext>
            </a:extLst>
          </p:cNvPr>
          <p:cNvSpPr>
            <a:spLocks noGrp="1"/>
          </p:cNvSpPr>
          <p:nvPr>
            <p:ph type="ctrTitle"/>
          </p:nvPr>
        </p:nvSpPr>
        <p:spPr>
          <a:xfrm>
            <a:off x="956236" y="808608"/>
            <a:ext cx="10279529" cy="2387600"/>
          </a:xfrm>
        </p:spPr>
        <p:txBody>
          <a:bodyPr anchor="ctr">
            <a:normAutofit/>
          </a:bodyPr>
          <a:lstStyle/>
          <a:p>
            <a:r>
              <a:rPr lang="en-US" sz="4000" b="1" i="1">
                <a:latin typeface="Franklin Gothic Heavy" panose="020B0603020102020204" pitchFamily="34" charset="0"/>
              </a:rPr>
              <a:t>Native language differences in the structural connectome of the human brain</a:t>
            </a:r>
          </a:p>
        </p:txBody>
      </p:sp>
      <p:sp>
        <p:nvSpPr>
          <p:cNvPr id="12" name="aboutWei">
            <a:extLst>
              <a:ext uri="{FF2B5EF4-FFF2-40B4-BE49-F238E27FC236}">
                <a16:creationId xmlns:a16="http://schemas.microsoft.com/office/drawing/2014/main" id="{8E54E969-28E7-261B-A09A-123D4234D722}"/>
              </a:ext>
            </a:extLst>
          </p:cNvPr>
          <p:cNvSpPr txBox="1"/>
          <p:nvPr/>
        </p:nvSpPr>
        <p:spPr>
          <a:xfrm>
            <a:off x="4348934" y="3957360"/>
            <a:ext cx="5842000" cy="1261884"/>
          </a:xfrm>
          <a:prstGeom prst="rect">
            <a:avLst/>
          </a:prstGeom>
          <a:noFill/>
        </p:spPr>
        <p:txBody>
          <a:bodyPr wrap="square" rtlCol="0" anchor="ctr">
            <a:spAutoFit/>
          </a:bodyPr>
          <a:lstStyle/>
          <a:p>
            <a:r>
              <a:rPr lang="en-US" sz="2000" i="1" dirty="0" err="1">
                <a:latin typeface="Franklin Gothic Medium" panose="020B0603020102020204" pitchFamily="34" charset="0"/>
              </a:rPr>
              <a:t>Xuehu</a:t>
            </a:r>
            <a:r>
              <a:rPr lang="en-US" sz="2000" i="1" dirty="0">
                <a:latin typeface="Franklin Gothic Medium" panose="020B0603020102020204" pitchFamily="34" charset="0"/>
              </a:rPr>
              <a:t> Wei</a:t>
            </a:r>
          </a:p>
          <a:p>
            <a:r>
              <a:rPr lang="en-US" sz="1400" i="1" dirty="0">
                <a:latin typeface="Franklin Gothic Medium" panose="020B0603020102020204" pitchFamily="34" charset="0"/>
              </a:rPr>
              <a:t>Doctoral Researcher in the Department of Neuropsychology at the</a:t>
            </a:r>
          </a:p>
          <a:p>
            <a:r>
              <a:rPr lang="en-US" sz="1400" i="1" dirty="0">
                <a:latin typeface="Franklin Gothic Medium" panose="020B0603020102020204" pitchFamily="34" charset="0"/>
              </a:rPr>
              <a:t>Max Planck Institute for Human and Cognitive Sciences (Leipzig, Germany)</a:t>
            </a:r>
          </a:p>
          <a:p>
            <a:endParaRPr lang="en-US" sz="1400" i="1" dirty="0">
              <a:latin typeface="Franklin Gothic Medium" panose="020B0603020102020204" pitchFamily="34" charset="0"/>
            </a:endParaRPr>
          </a:p>
          <a:p>
            <a:r>
              <a:rPr lang="en-US" sz="1400" i="1" dirty="0">
                <a:latin typeface="Franklin Gothic Medium" panose="020B0603020102020204" pitchFamily="34" charset="0"/>
              </a:rPr>
              <a:t>PUBLISHED: 2023</a:t>
            </a:r>
          </a:p>
        </p:txBody>
      </p:sp>
      <p:pic>
        <p:nvPicPr>
          <p:cNvPr id="16" name="wei">
            <a:extLst>
              <a:ext uri="{FF2B5EF4-FFF2-40B4-BE49-F238E27FC236}">
                <a16:creationId xmlns:a16="http://schemas.microsoft.com/office/drawing/2014/main" id="{9D262E11-6A03-9927-A3DE-B409061065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3779" y="3718352"/>
            <a:ext cx="1352550" cy="1739900"/>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4" name="fig7-path1">
            <a:extLst>
              <a:ext uri="{FF2B5EF4-FFF2-40B4-BE49-F238E27FC236}">
                <a16:creationId xmlns:a16="http://schemas.microsoft.com/office/drawing/2014/main" id="{B9F0FA8C-66AA-FEA1-2718-4A5974A7E3BB}"/>
              </a:ext>
            </a:extLst>
          </p:cNvPr>
          <p:cNvSpPr txBox="1"/>
          <p:nvPr/>
        </p:nvSpPr>
        <p:spPr>
          <a:xfrm>
            <a:off x="-29417" y="6517628"/>
            <a:ext cx="1507758"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1. </a:t>
            </a:r>
            <a:r>
              <a:rPr lang="en-US" sz="400" dirty="0">
                <a:latin typeface="Franklin Gothic Medium" panose="020B0603020102020204" pitchFamily="34" charset="0"/>
              </a:rPr>
              <a:t>YouTube video explaining the connectome.</a:t>
            </a:r>
          </a:p>
          <a:p>
            <a:pPr algn="r"/>
            <a:r>
              <a:rPr lang="en-US" sz="400" dirty="0">
                <a:latin typeface="Franklin Gothic Medium" panose="020B0603020102020204" pitchFamily="34" charset="0"/>
              </a:rPr>
              <a:t>(World Science Festival, 2019)</a:t>
            </a:r>
            <a:endParaRPr lang="en-US" sz="400" i="1" dirty="0">
              <a:highlight>
                <a:srgbClr val="00FFFF"/>
              </a:highlight>
              <a:latin typeface="Franklin Gothic Medium" panose="020B0603020102020204" pitchFamily="34" charset="0"/>
            </a:endParaRPr>
          </a:p>
        </p:txBody>
      </p:sp>
      <p:sp>
        <p:nvSpPr>
          <p:cNvPr id="10" name="Slide Number Placeholder 19">
            <a:extLst>
              <a:ext uri="{FF2B5EF4-FFF2-40B4-BE49-F238E27FC236}">
                <a16:creationId xmlns:a16="http://schemas.microsoft.com/office/drawing/2014/main" id="{9F53E80E-4593-8727-D517-DFDC07D52D8A}"/>
              </a:ext>
            </a:extLst>
          </p:cNvPr>
          <p:cNvSpPr>
            <a:spLocks noGrp="1"/>
          </p:cNvSpPr>
          <p:nvPr>
            <p:ph type="sldNum" sz="quarter" idx="12"/>
          </p:nvPr>
        </p:nvSpPr>
        <p:spPr>
          <a:xfrm>
            <a:off x="9191128" y="12862"/>
            <a:ext cx="2743200" cy="365125"/>
          </a:xfrm>
        </p:spPr>
        <p:txBody>
          <a:bodyPr anchor="t"/>
          <a:lstStyle/>
          <a:p>
            <a:r>
              <a:rPr lang="en-US" dirty="0"/>
              <a:t>PSYC 216, May 2023 | </a:t>
            </a:r>
            <a:fld id="{2E7CF561-7B99-E44F-923B-79EAE0C9A6C5}" type="slidenum">
              <a:rPr lang="en-US" smtClean="0"/>
              <a:t>1</a:t>
            </a:fld>
            <a:endParaRPr lang="en-US" dirty="0"/>
          </a:p>
          <a:p>
            <a:r>
              <a:rPr lang="en-US" dirty="0"/>
              <a:t>Lara </a:t>
            </a:r>
            <a:r>
              <a:rPr lang="en-US" dirty="0" err="1"/>
              <a:t>Baldez</a:t>
            </a:r>
            <a:r>
              <a:rPr lang="en-US" dirty="0"/>
              <a:t> Duque Ribeiro</a:t>
            </a:r>
          </a:p>
        </p:txBody>
      </p:sp>
    </p:spTree>
    <p:extLst>
      <p:ext uri="{BB962C8B-B14F-4D97-AF65-F5344CB8AC3E}">
        <p14:creationId xmlns:p14="http://schemas.microsoft.com/office/powerpoint/2010/main" val="33801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8" fill="hold" nodeType="clickEffect">
                                  <p:stCondLst>
                                    <p:cond delay="0"/>
                                  </p:stCondLst>
                                  <p:childTnLst>
                                    <p:anim calcmode="lin" valueType="num">
                                      <p:cBhvr additive="base">
                                        <p:cTn id="10" dur="500"/>
                                        <p:tgtEl>
                                          <p:spTgt spid="16"/>
                                        </p:tgtEl>
                                        <p:attrNameLst>
                                          <p:attrName>ppt_x</p:attrName>
                                        </p:attrNameLst>
                                      </p:cBhvr>
                                      <p:tavLst>
                                        <p:tav tm="0">
                                          <p:val>
                                            <p:strVal val="ppt_x"/>
                                          </p:val>
                                        </p:tav>
                                        <p:tav tm="100000">
                                          <p:val>
                                            <p:strVal val="0-ppt_w/2"/>
                                          </p:val>
                                        </p:tav>
                                      </p:tavLst>
                                    </p:anim>
                                    <p:anim calcmode="lin" valueType="num">
                                      <p:cBhvr additive="base">
                                        <p:cTn id="11" dur="500"/>
                                        <p:tgtEl>
                                          <p:spTgt spid="16"/>
                                        </p:tgtEl>
                                        <p:attrNameLst>
                                          <p:attrName>ppt_y</p:attrName>
                                        </p:attrNameLst>
                                      </p:cBhvr>
                                      <p:tavLst>
                                        <p:tav tm="0">
                                          <p:val>
                                            <p:strVal val="ppt_y"/>
                                          </p:val>
                                        </p:tav>
                                        <p:tav tm="100000">
                                          <p:val>
                                            <p:strVal val="ppt_y"/>
                                          </p:val>
                                        </p:tav>
                                      </p:tavLst>
                                    </p:anim>
                                    <p:set>
                                      <p:cBhvr>
                                        <p:cTn id="12" dur="1" fill="hold">
                                          <p:stCondLst>
                                            <p:cond delay="499"/>
                                          </p:stCondLst>
                                        </p:cTn>
                                        <p:tgtEl>
                                          <p:spTgt spid="16"/>
                                        </p:tgtEl>
                                        <p:attrNameLst>
                                          <p:attrName>style.visibility</p:attrName>
                                        </p:attrNameLst>
                                      </p:cBhvr>
                                      <p:to>
                                        <p:strVal val="hidden"/>
                                      </p:to>
                                    </p:set>
                                  </p:childTnLst>
                                </p:cTn>
                              </p:par>
                              <p:par>
                                <p:cTn id="13" presetID="2" presetClass="exit" presetSubtype="8" fill="hold" grpId="1" nodeType="withEffect">
                                  <p:stCondLst>
                                    <p:cond delay="0"/>
                                  </p:stCondLst>
                                  <p:childTnLst>
                                    <p:anim calcmode="lin" valueType="num">
                                      <p:cBhvr additive="base">
                                        <p:cTn id="14" dur="1250"/>
                                        <p:tgtEl>
                                          <p:spTgt spid="12"/>
                                        </p:tgtEl>
                                        <p:attrNameLst>
                                          <p:attrName>ppt_x</p:attrName>
                                        </p:attrNameLst>
                                      </p:cBhvr>
                                      <p:tavLst>
                                        <p:tav tm="0">
                                          <p:val>
                                            <p:strVal val="ppt_x"/>
                                          </p:val>
                                        </p:tav>
                                        <p:tav tm="100000">
                                          <p:val>
                                            <p:strVal val="0-ppt_w/2"/>
                                          </p:val>
                                        </p:tav>
                                      </p:tavLst>
                                    </p:anim>
                                    <p:anim calcmode="lin" valueType="num">
                                      <p:cBhvr additive="base">
                                        <p:cTn id="15" dur="1250"/>
                                        <p:tgtEl>
                                          <p:spTgt spid="12"/>
                                        </p:tgtEl>
                                        <p:attrNameLst>
                                          <p:attrName>ppt_y</p:attrName>
                                        </p:attrNameLst>
                                      </p:cBhvr>
                                      <p:tavLst>
                                        <p:tav tm="0">
                                          <p:val>
                                            <p:strVal val="ppt_y"/>
                                          </p:val>
                                        </p:tav>
                                        <p:tav tm="100000">
                                          <p:val>
                                            <p:strVal val="ppt_y"/>
                                          </p:val>
                                        </p:tav>
                                      </p:tavLst>
                                    </p:anim>
                                    <p:set>
                                      <p:cBhvr>
                                        <p:cTn id="16" dur="1" fill="hold">
                                          <p:stCondLst>
                                            <p:cond delay="1249"/>
                                          </p:stCondLst>
                                        </p:cTn>
                                        <p:tgtEl>
                                          <p:spTgt spid="12"/>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500"/>
                                        <p:tgtEl>
                                          <p:spTgt spid="2"/>
                                        </p:tgtEl>
                                      </p:cBhvr>
                                    </p:animEffect>
                                    <p:set>
                                      <p:cBhvr>
                                        <p:cTn id="21" dur="1" fill="hold">
                                          <p:stCondLst>
                                            <p:cond delay="499"/>
                                          </p:stCondLst>
                                        </p:cTn>
                                        <p:tgtEl>
                                          <p:spTgt spid="2"/>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6" presetClass="emph" presetSubtype="0" fill="hold" grpId="1" nodeType="clickEffect">
                                  <p:stCondLst>
                                    <p:cond delay="0"/>
                                  </p:stCondLst>
                                  <p:childTnLst>
                                    <p:animScale>
                                      <p:cBhvr>
                                        <p:cTn id="25" dur="2000" fill="hold"/>
                                        <p:tgtEl>
                                          <p:spTgt spid="6"/>
                                        </p:tgtEl>
                                      </p:cBhvr>
                                      <p:by x="50000" y="50000"/>
                                    </p:animScale>
                                  </p:childTnLst>
                                </p:cTn>
                              </p:par>
                              <p:par>
                                <p:cTn id="26" presetID="1" presetClass="exit" presetSubtype="0" fill="hold" grpId="2" nodeType="withEffect">
                                  <p:stCondLst>
                                    <p:cond delay="0"/>
                                  </p:stCondLst>
                                  <p:childTnLst>
                                    <p:set>
                                      <p:cBhvr>
                                        <p:cTn id="27" dur="1" fill="hold">
                                          <p:stCondLst>
                                            <p:cond delay="0"/>
                                          </p:stCondLst>
                                        </p:cTn>
                                        <p:tgtEl>
                                          <p:spTgt spid="2"/>
                                        </p:tgtEl>
                                        <p:attrNameLst>
                                          <p:attrName>style.visibility</p:attrName>
                                        </p:attrNameLst>
                                      </p:cBhvr>
                                      <p:to>
                                        <p:strVal val="hidden"/>
                                      </p:to>
                                    </p:set>
                                  </p:childTnLst>
                                </p:cTn>
                              </p:par>
                              <p:par>
                                <p:cTn id="28" presetID="0" presetClass="path" presetSubtype="0" accel="50000" fill="hold" grpId="2" nodeType="withEffect">
                                  <p:stCondLst>
                                    <p:cond delay="0"/>
                                  </p:stCondLst>
                                  <p:childTnLst>
                                    <p:animMotion origin="layout" path="M 0 1.85185E-6 L -0.27578 -0.23287 " pathEditMode="relative" rAng="0" ptsTypes="AA">
                                      <p:cBhvr>
                                        <p:cTn id="29" dur="2000" fill="hold"/>
                                        <p:tgtEl>
                                          <p:spTgt spid="6"/>
                                        </p:tgtEl>
                                        <p:attrNameLst>
                                          <p:attrName>ppt_x</p:attrName>
                                          <p:attrName>ppt_y</p:attrName>
                                        </p:attrNameLst>
                                      </p:cBhvr>
                                      <p:rCtr x="-13789" y="-11644"/>
                                    </p:animMotion>
                                  </p:childTnLst>
                                </p:cTn>
                              </p:par>
                            </p:childTnLst>
                          </p:cTn>
                        </p:par>
                        <p:par>
                          <p:cTn id="30" fill="hold">
                            <p:stCondLst>
                              <p:cond delay="2000"/>
                            </p:stCondLst>
                            <p:childTnLst>
                              <p:par>
                                <p:cTn id="31" presetID="2" presetClass="entr" presetSubtype="2"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1+#ppt_w/2"/>
                                          </p:val>
                                        </p:tav>
                                        <p:tav tm="100000">
                                          <p:val>
                                            <p:strVal val="#ppt_x"/>
                                          </p:val>
                                        </p:tav>
                                      </p:tavLst>
                                    </p:anim>
                                    <p:anim calcmode="lin" valueType="num">
                                      <p:cBhvr additive="base">
                                        <p:cTn id="34" dur="500" fill="hold"/>
                                        <p:tgtEl>
                                          <p:spTgt spid="9"/>
                                        </p:tgtEl>
                                        <p:attrNameLst>
                                          <p:attrName>ppt_y</p:attrName>
                                        </p:attrNameLst>
                                      </p:cBhvr>
                                      <p:tavLst>
                                        <p:tav tm="0">
                                          <p:val>
                                            <p:strVal val="#ppt_y"/>
                                          </p:val>
                                        </p:tav>
                                        <p:tav tm="100000">
                                          <p:val>
                                            <p:strVal val="#ppt_y"/>
                                          </p:val>
                                        </p:tav>
                                      </p:tavLst>
                                    </p:anim>
                                  </p:childTnLst>
                                </p:cTn>
                              </p:par>
                              <p:par>
                                <p:cTn id="35" presetID="1" presetClass="entr" presetSubtype="0" fill="hold" grpId="1"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mediacall" presetSubtype="0" fill="hold" nodeType="withEffect">
                                  <p:stCondLst>
                                    <p:cond delay="0"/>
                                  </p:stCondLst>
                                  <p:childTnLst>
                                    <p:cmd type="call" cmd="playFrom(0.0)">
                                      <p:cBhvr>
                                        <p:cTn id="38"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9" fill="hold" display="0">
                  <p:stCondLst>
                    <p:cond delay="indefinite"/>
                  </p:stCondLst>
                </p:cTn>
                <p:tgtEl>
                  <p:spTgt spid="9"/>
                </p:tgtEl>
              </p:cMediaNode>
            </p:video>
            <p:seq concurrent="1" nextAc="seek">
              <p:cTn id="40" restart="whenNotActive" fill="hold" evtFilter="cancelBubble" nodeType="interactiveSeq">
                <p:stCondLst>
                  <p:cond evt="onClick" delay="0">
                    <p:tgtEl>
                      <p:spTgt spid="9"/>
                    </p:tgtEl>
                  </p:cond>
                </p:stCondLst>
                <p:endSync evt="end" delay="0">
                  <p:rtn val="all"/>
                </p:endSync>
                <p:childTnLst>
                  <p:par>
                    <p:cTn id="41" fill="hold">
                      <p:stCondLst>
                        <p:cond delay="0"/>
                      </p:stCondLst>
                      <p:childTnLst>
                        <p:par>
                          <p:cTn id="42" fill="hold">
                            <p:stCondLst>
                              <p:cond delay="0"/>
                            </p:stCondLst>
                            <p:childTnLst>
                              <p:par>
                                <p:cTn id="43" presetID="2" presetClass="mediacall" presetSubtype="0" fill="hold" nodeType="clickEffect">
                                  <p:stCondLst>
                                    <p:cond delay="0"/>
                                  </p:stCondLst>
                                  <p:childTnLst>
                                    <p:cmd type="call" cmd="togglePause">
                                      <p:cBhvr>
                                        <p:cTn id="44" dur="1" fill="hold"/>
                                        <p:tgtEl>
                                          <p:spTgt spid="9"/>
                                        </p:tgtEl>
                                      </p:cBhvr>
                                    </p:cmd>
                                  </p:childTnLst>
                                </p:cTn>
                              </p:par>
                            </p:childTnLst>
                          </p:cTn>
                        </p:par>
                      </p:childTnLst>
                    </p:cTn>
                  </p:par>
                </p:childTnLst>
              </p:cTn>
              <p:nextCondLst>
                <p:cond evt="onClick" delay="0">
                  <p:tgtEl>
                    <p:spTgt spid="9"/>
                  </p:tgtEl>
                </p:cond>
              </p:nextCondLst>
            </p:seq>
          </p:childTnLst>
        </p:cTn>
      </p:par>
    </p:tnLst>
    <p:bldLst>
      <p:bldP spid="6" grpId="0"/>
      <p:bldP spid="6" grpId="1"/>
      <p:bldP spid="6" grpId="2"/>
      <p:bldP spid="2" grpId="0"/>
      <p:bldP spid="2" grpId="2"/>
      <p:bldP spid="12" grpId="1"/>
      <p:bldP spid="4"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7E2E9"/>
        </a:solidFill>
        <a:effectLst/>
      </p:bgPr>
    </p:bg>
    <p:spTree>
      <p:nvGrpSpPr>
        <p:cNvPr id="1" name=""/>
        <p:cNvGrpSpPr/>
        <p:nvPr/>
      </p:nvGrpSpPr>
      <p:grpSpPr>
        <a:xfrm>
          <a:off x="0" y="0"/>
          <a:ext cx="0" cy="0"/>
          <a:chOff x="0" y="0"/>
          <a:chExt cx="0" cy="0"/>
        </a:xfrm>
      </p:grpSpPr>
      <p:sp>
        <p:nvSpPr>
          <p:cNvPr id="5" name="nativeLangBlack">
            <a:extLst>
              <a:ext uri="{FF2B5EF4-FFF2-40B4-BE49-F238E27FC236}">
                <a16:creationId xmlns:a16="http://schemas.microsoft.com/office/drawing/2014/main" id="{292A5589-3F24-F5BB-53B2-9960031B3BF2}"/>
              </a:ext>
            </a:extLst>
          </p:cNvPr>
          <p:cNvSpPr>
            <a:spLocks noGrp="1"/>
          </p:cNvSpPr>
          <p:nvPr/>
        </p:nvSpPr>
        <p:spPr>
          <a:xfrm>
            <a:off x="956233" y="2235200"/>
            <a:ext cx="10279529" cy="23876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i="1">
                <a:latin typeface="Franklin Gothic Heavy" panose="020B0603020102020204" pitchFamily="34" charset="0"/>
              </a:rPr>
              <a:t>Native language </a:t>
            </a:r>
            <a:r>
              <a:rPr lang="en-US" sz="4000" b="1" i="1">
                <a:solidFill>
                  <a:schemeClr val="bg2">
                    <a:lumMod val="90000"/>
                  </a:schemeClr>
                </a:solidFill>
                <a:latin typeface="Franklin Gothic Heavy" panose="020B0603020102020204" pitchFamily="34" charset="0"/>
              </a:rPr>
              <a:t>differences in the structural connectome of the human brain</a:t>
            </a:r>
          </a:p>
        </p:txBody>
      </p:sp>
      <p:sp>
        <p:nvSpPr>
          <p:cNvPr id="4" name="languageBlack">
            <a:extLst>
              <a:ext uri="{FF2B5EF4-FFF2-40B4-BE49-F238E27FC236}">
                <a16:creationId xmlns:a16="http://schemas.microsoft.com/office/drawing/2014/main" id="{F78D5843-385A-E968-BD1D-437F2BE6BA46}"/>
              </a:ext>
            </a:extLst>
          </p:cNvPr>
          <p:cNvSpPr>
            <a:spLocks noGrp="1"/>
          </p:cNvSpPr>
          <p:nvPr/>
        </p:nvSpPr>
        <p:spPr>
          <a:xfrm>
            <a:off x="956233" y="2235200"/>
            <a:ext cx="10279529" cy="23876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i="1">
                <a:solidFill>
                  <a:schemeClr val="bg2">
                    <a:lumMod val="90000"/>
                  </a:schemeClr>
                </a:solidFill>
                <a:latin typeface="Franklin Gothic Heavy" panose="020B0603020102020204" pitchFamily="34" charset="0"/>
              </a:rPr>
              <a:t>Native</a:t>
            </a:r>
            <a:r>
              <a:rPr lang="en-US" sz="4000" b="1" i="1">
                <a:solidFill>
                  <a:schemeClr val="bg2">
                    <a:lumMod val="75000"/>
                  </a:schemeClr>
                </a:solidFill>
                <a:latin typeface="Franklin Gothic Heavy" panose="020B0603020102020204" pitchFamily="34" charset="0"/>
              </a:rPr>
              <a:t> </a:t>
            </a:r>
            <a:r>
              <a:rPr lang="en-US" sz="4000" b="1" i="1">
                <a:latin typeface="Franklin Gothic Heavy" panose="020B0603020102020204" pitchFamily="34" charset="0"/>
              </a:rPr>
              <a:t>language</a:t>
            </a:r>
            <a:r>
              <a:rPr lang="en-US" sz="4000" b="1" i="1">
                <a:solidFill>
                  <a:schemeClr val="bg2">
                    <a:lumMod val="75000"/>
                  </a:schemeClr>
                </a:solidFill>
                <a:latin typeface="Franklin Gothic Heavy" panose="020B0603020102020204" pitchFamily="34" charset="0"/>
              </a:rPr>
              <a:t> </a:t>
            </a:r>
            <a:r>
              <a:rPr lang="en-US" sz="4000" b="1" i="1">
                <a:solidFill>
                  <a:schemeClr val="bg2">
                    <a:lumMod val="90000"/>
                  </a:schemeClr>
                </a:solidFill>
                <a:latin typeface="Franklin Gothic Heavy" panose="020B0603020102020204" pitchFamily="34" charset="0"/>
              </a:rPr>
              <a:t>differences in the structural connectome of the human brain</a:t>
            </a:r>
          </a:p>
        </p:txBody>
      </p:sp>
      <p:pic>
        <p:nvPicPr>
          <p:cNvPr id="4098" name="matterTypes" descr="white vs grey matter">
            <a:extLst>
              <a:ext uri="{FF2B5EF4-FFF2-40B4-BE49-F238E27FC236}">
                <a16:creationId xmlns:a16="http://schemas.microsoft.com/office/drawing/2014/main" id="{C2D437F8-66DC-5D27-55C8-D2A6399A0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690" y="4178300"/>
            <a:ext cx="3257550" cy="1977619"/>
          </a:xfrm>
          <a:prstGeom prst="roundRect">
            <a:avLst>
              <a:gd name="adj" fmla="val 8594"/>
            </a:avLst>
          </a:prstGeom>
          <a:solidFill>
            <a:srgbClr val="FFFFFF">
              <a:shade val="85000"/>
            </a:srgbClr>
          </a:solidFill>
          <a:ln>
            <a:noFill/>
          </a:ln>
          <a:effectLst/>
        </p:spPr>
      </p:pic>
      <p:sp>
        <p:nvSpPr>
          <p:cNvPr id="14" name="whiteMHighlight">
            <a:extLst>
              <a:ext uri="{FF2B5EF4-FFF2-40B4-BE49-F238E27FC236}">
                <a16:creationId xmlns:a16="http://schemas.microsoft.com/office/drawing/2014/main" id="{0E1EE18C-4B96-545F-5BBD-DC5BE9481B47}"/>
              </a:ext>
            </a:extLst>
          </p:cNvPr>
          <p:cNvSpPr/>
          <p:nvPr/>
        </p:nvSpPr>
        <p:spPr>
          <a:xfrm>
            <a:off x="3321781" y="5162719"/>
            <a:ext cx="509798" cy="142289"/>
          </a:xfrm>
          <a:prstGeom prst="rect">
            <a:avLst/>
          </a:prstGeom>
          <a:solidFill>
            <a:srgbClr val="FF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mp;functional">
            <a:extLst>
              <a:ext uri="{FF2B5EF4-FFF2-40B4-BE49-F238E27FC236}">
                <a16:creationId xmlns:a16="http://schemas.microsoft.com/office/drawing/2014/main" id="{1B2C9435-ECEC-A525-C4DA-B8BA170F5ABE}"/>
              </a:ext>
            </a:extLst>
          </p:cNvPr>
          <p:cNvSpPr txBox="1"/>
          <p:nvPr/>
        </p:nvSpPr>
        <p:spPr>
          <a:xfrm>
            <a:off x="1513840" y="4171530"/>
            <a:ext cx="1422400" cy="1015663"/>
          </a:xfrm>
          <a:prstGeom prst="rect">
            <a:avLst/>
          </a:prstGeom>
          <a:noFill/>
        </p:spPr>
        <p:txBody>
          <a:bodyPr wrap="square" rtlCol="0" anchor="ctr">
            <a:spAutoFit/>
          </a:bodyPr>
          <a:lstStyle/>
          <a:p>
            <a:pPr algn="ctr"/>
            <a:r>
              <a:rPr lang="en-US" sz="2000" b="1" i="1">
                <a:latin typeface="Franklin Gothic Heavy" panose="020B0603020102020204" pitchFamily="34" charset="0"/>
              </a:rPr>
              <a:t>&amp;</a:t>
            </a:r>
          </a:p>
          <a:p>
            <a:pPr algn="ctr"/>
            <a:endParaRPr lang="en-US" sz="2000" b="1" i="1">
              <a:latin typeface="Franklin Gothic Heavy" panose="020B0603020102020204" pitchFamily="34" charset="0"/>
            </a:endParaRPr>
          </a:p>
          <a:p>
            <a:pPr algn="ctr"/>
            <a:r>
              <a:rPr lang="en-US" sz="2000" b="1" i="1">
                <a:latin typeface="Franklin Gothic Heavy" panose="020B0603020102020204" pitchFamily="34" charset="0"/>
              </a:rPr>
              <a:t>functional</a:t>
            </a:r>
          </a:p>
        </p:txBody>
      </p:sp>
      <p:sp>
        <p:nvSpPr>
          <p:cNvPr id="3" name="structuralBlack">
            <a:extLst>
              <a:ext uri="{FF2B5EF4-FFF2-40B4-BE49-F238E27FC236}">
                <a16:creationId xmlns:a16="http://schemas.microsoft.com/office/drawing/2014/main" id="{41737D19-B0B7-ED27-E89C-776D10B685AE}"/>
              </a:ext>
            </a:extLst>
          </p:cNvPr>
          <p:cNvSpPr>
            <a:spLocks noGrp="1"/>
          </p:cNvSpPr>
          <p:nvPr/>
        </p:nvSpPr>
        <p:spPr>
          <a:xfrm>
            <a:off x="956234" y="2235200"/>
            <a:ext cx="10279529" cy="23876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i="1">
                <a:solidFill>
                  <a:schemeClr val="bg2">
                    <a:lumMod val="90000"/>
                  </a:schemeClr>
                </a:solidFill>
                <a:latin typeface="Franklin Gothic Heavy" panose="020B0603020102020204" pitchFamily="34" charset="0"/>
              </a:rPr>
              <a:t>Native language differences in the </a:t>
            </a:r>
            <a:r>
              <a:rPr lang="en-US" sz="4000" b="1" i="1">
                <a:latin typeface="Franklin Gothic Heavy" panose="020B0603020102020204" pitchFamily="34" charset="0"/>
              </a:rPr>
              <a:t>structural</a:t>
            </a:r>
            <a:r>
              <a:rPr lang="en-US" sz="4000" b="1" i="1">
                <a:solidFill>
                  <a:schemeClr val="bg2">
                    <a:lumMod val="75000"/>
                  </a:schemeClr>
                </a:solidFill>
                <a:latin typeface="Franklin Gothic Heavy" panose="020B0603020102020204" pitchFamily="34" charset="0"/>
              </a:rPr>
              <a:t> </a:t>
            </a:r>
            <a:r>
              <a:rPr lang="en-US" sz="4000" b="1" i="1">
                <a:solidFill>
                  <a:schemeClr val="bg2">
                    <a:lumMod val="90000"/>
                  </a:schemeClr>
                </a:solidFill>
                <a:latin typeface="Franklin Gothic Heavy" panose="020B0603020102020204" pitchFamily="34" charset="0"/>
              </a:rPr>
              <a:t>connectome of the human brain</a:t>
            </a:r>
          </a:p>
        </p:txBody>
      </p:sp>
      <p:sp>
        <p:nvSpPr>
          <p:cNvPr id="2" name="allBlack">
            <a:extLst>
              <a:ext uri="{FF2B5EF4-FFF2-40B4-BE49-F238E27FC236}">
                <a16:creationId xmlns:a16="http://schemas.microsoft.com/office/drawing/2014/main" id="{3E44F823-82BD-70DC-831E-0095DD6BB44E}"/>
              </a:ext>
            </a:extLst>
          </p:cNvPr>
          <p:cNvSpPr>
            <a:spLocks noGrp="1"/>
          </p:cNvSpPr>
          <p:nvPr>
            <p:ph type="ctrTitle"/>
          </p:nvPr>
        </p:nvSpPr>
        <p:spPr>
          <a:xfrm>
            <a:off x="956235" y="2235200"/>
            <a:ext cx="10279529" cy="2387600"/>
          </a:xfrm>
        </p:spPr>
        <p:txBody>
          <a:bodyPr anchor="ctr">
            <a:normAutofit/>
          </a:bodyPr>
          <a:lstStyle/>
          <a:p>
            <a:r>
              <a:rPr lang="en-US" sz="4000" b="1" i="1" dirty="0">
                <a:latin typeface="Franklin Gothic Heavy" panose="020B0603020102020204" pitchFamily="34" charset="0"/>
              </a:rPr>
              <a:t>Native language differences in the structural connectome of the human brain</a:t>
            </a:r>
          </a:p>
        </p:txBody>
      </p:sp>
      <p:grpSp>
        <p:nvGrpSpPr>
          <p:cNvPr id="36" name="3 processes">
            <a:extLst>
              <a:ext uri="{FF2B5EF4-FFF2-40B4-BE49-F238E27FC236}">
                <a16:creationId xmlns:a16="http://schemas.microsoft.com/office/drawing/2014/main" id="{E93D26C0-6197-748A-78CC-D97743CCE6D4}"/>
              </a:ext>
            </a:extLst>
          </p:cNvPr>
          <p:cNvGrpSpPr/>
          <p:nvPr/>
        </p:nvGrpSpPr>
        <p:grpSpPr>
          <a:xfrm>
            <a:off x="3339168" y="301971"/>
            <a:ext cx="2871523" cy="2273639"/>
            <a:chOff x="3414584" y="301971"/>
            <a:chExt cx="2871523" cy="2273639"/>
          </a:xfrm>
        </p:grpSpPr>
        <p:sp>
          <p:nvSpPr>
            <p:cNvPr id="10" name="semantic">
              <a:extLst>
                <a:ext uri="{FF2B5EF4-FFF2-40B4-BE49-F238E27FC236}">
                  <a16:creationId xmlns:a16="http://schemas.microsoft.com/office/drawing/2014/main" id="{25F517C3-3478-4390-809F-51108F5BDA6D}"/>
                </a:ext>
              </a:extLst>
            </p:cNvPr>
            <p:cNvSpPr txBox="1"/>
            <p:nvPr/>
          </p:nvSpPr>
          <p:spPr>
            <a:xfrm>
              <a:off x="4640920" y="301971"/>
              <a:ext cx="1193747" cy="400110"/>
            </a:xfrm>
            <a:prstGeom prst="rect">
              <a:avLst/>
            </a:prstGeom>
            <a:noFill/>
          </p:spPr>
          <p:txBody>
            <a:bodyPr wrap="square" rtlCol="0" anchor="ctr">
              <a:spAutoFit/>
            </a:bodyPr>
            <a:lstStyle/>
            <a:p>
              <a:pPr algn="ctr"/>
              <a:r>
                <a:rPr lang="en-US" sz="2000" i="1">
                  <a:latin typeface="Franklin Gothic Medium" panose="020B0603020102020204" pitchFamily="34" charset="0"/>
                </a:rPr>
                <a:t>syntactic</a:t>
              </a:r>
            </a:p>
          </p:txBody>
        </p:sp>
        <p:sp>
          <p:nvSpPr>
            <p:cNvPr id="13" name="syntactic">
              <a:extLst>
                <a:ext uri="{FF2B5EF4-FFF2-40B4-BE49-F238E27FC236}">
                  <a16:creationId xmlns:a16="http://schemas.microsoft.com/office/drawing/2014/main" id="{CC6013E5-16DB-5258-9522-E670536D02C9}"/>
                </a:ext>
              </a:extLst>
            </p:cNvPr>
            <p:cNvSpPr txBox="1"/>
            <p:nvPr/>
          </p:nvSpPr>
          <p:spPr>
            <a:xfrm>
              <a:off x="4640920" y="1268585"/>
              <a:ext cx="1193747" cy="400110"/>
            </a:xfrm>
            <a:prstGeom prst="rect">
              <a:avLst/>
            </a:prstGeom>
            <a:noFill/>
          </p:spPr>
          <p:txBody>
            <a:bodyPr wrap="square" rtlCol="0" anchor="ctr">
              <a:spAutoFit/>
            </a:bodyPr>
            <a:lstStyle/>
            <a:p>
              <a:pPr algn="ctr"/>
              <a:r>
                <a:rPr lang="en-US" sz="2000" i="1">
                  <a:latin typeface="Franklin Gothic Medium" panose="020B0603020102020204" pitchFamily="34" charset="0"/>
                </a:rPr>
                <a:t>semantic</a:t>
              </a:r>
            </a:p>
          </p:txBody>
        </p:sp>
        <p:sp>
          <p:nvSpPr>
            <p:cNvPr id="15" name="phonological">
              <a:extLst>
                <a:ext uri="{FF2B5EF4-FFF2-40B4-BE49-F238E27FC236}">
                  <a16:creationId xmlns:a16="http://schemas.microsoft.com/office/drawing/2014/main" id="{F8799FCF-51B6-5961-5D77-30ADFF6D8C1A}"/>
                </a:ext>
              </a:extLst>
            </p:cNvPr>
            <p:cNvSpPr txBox="1"/>
            <p:nvPr/>
          </p:nvSpPr>
          <p:spPr>
            <a:xfrm>
              <a:off x="4640920" y="2175500"/>
              <a:ext cx="1645187" cy="400110"/>
            </a:xfrm>
            <a:prstGeom prst="rect">
              <a:avLst/>
            </a:prstGeom>
            <a:noFill/>
          </p:spPr>
          <p:txBody>
            <a:bodyPr wrap="square" rtlCol="0" anchor="ctr">
              <a:spAutoFit/>
            </a:bodyPr>
            <a:lstStyle/>
            <a:p>
              <a:pPr algn="ctr"/>
              <a:r>
                <a:rPr lang="en-US" sz="2000" i="1">
                  <a:latin typeface="Franklin Gothic Medium" panose="020B0603020102020204" pitchFamily="34" charset="0"/>
                </a:rPr>
                <a:t>phonological</a:t>
              </a:r>
            </a:p>
          </p:txBody>
        </p:sp>
        <p:cxnSp>
          <p:nvCxnSpPr>
            <p:cNvPr id="20" name="phonologicalArrow">
              <a:extLst>
                <a:ext uri="{FF2B5EF4-FFF2-40B4-BE49-F238E27FC236}">
                  <a16:creationId xmlns:a16="http://schemas.microsoft.com/office/drawing/2014/main" id="{DF1FB0D6-F40C-087F-0577-43E15708E852}"/>
                </a:ext>
              </a:extLst>
            </p:cNvPr>
            <p:cNvCxnSpPr>
              <a:cxnSpLocks/>
              <a:stCxn id="8" idx="3"/>
              <a:endCxn id="15" idx="1"/>
            </p:cNvCxnSpPr>
            <p:nvPr/>
          </p:nvCxnSpPr>
          <p:spPr>
            <a:xfrm>
              <a:off x="3531490" y="1468640"/>
              <a:ext cx="1109430" cy="906915"/>
            </a:xfrm>
            <a:prstGeom prst="curvedConnector3">
              <a:avLst>
                <a:gd name="adj1" fmla="val -13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emanticArrow">
              <a:extLst>
                <a:ext uri="{FF2B5EF4-FFF2-40B4-BE49-F238E27FC236}">
                  <a16:creationId xmlns:a16="http://schemas.microsoft.com/office/drawing/2014/main" id="{4187ECDC-A300-6082-F571-97DC7725F700}"/>
                </a:ext>
              </a:extLst>
            </p:cNvPr>
            <p:cNvCxnSpPr>
              <a:cxnSpLocks/>
              <a:stCxn id="8" idx="3"/>
              <a:endCxn id="10" idx="1"/>
            </p:cNvCxnSpPr>
            <p:nvPr/>
          </p:nvCxnSpPr>
          <p:spPr>
            <a:xfrm flipV="1">
              <a:off x="3531490" y="502026"/>
              <a:ext cx="1109430" cy="966614"/>
            </a:xfrm>
            <a:prstGeom prst="curvedConnector3">
              <a:avLst>
                <a:gd name="adj1" fmla="val -13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yntacticArrow">
              <a:extLst>
                <a:ext uri="{FF2B5EF4-FFF2-40B4-BE49-F238E27FC236}">
                  <a16:creationId xmlns:a16="http://schemas.microsoft.com/office/drawing/2014/main" id="{75660C75-E0C8-2631-C41D-16DEF7C0F385}"/>
                </a:ext>
              </a:extLst>
            </p:cNvPr>
            <p:cNvCxnSpPr>
              <a:cxnSpLocks/>
              <a:endCxn id="13" idx="1"/>
            </p:cNvCxnSpPr>
            <p:nvPr/>
          </p:nvCxnSpPr>
          <p:spPr>
            <a:xfrm>
              <a:off x="3414584" y="1468640"/>
              <a:ext cx="1226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50" name="diagramSemPhon">
            <a:extLst>
              <a:ext uri="{FF2B5EF4-FFF2-40B4-BE49-F238E27FC236}">
                <a16:creationId xmlns:a16="http://schemas.microsoft.com/office/drawing/2014/main" id="{81E7FF45-AF14-472C-804B-91C77AFC6E7C}"/>
              </a:ext>
            </a:extLst>
          </p:cNvPr>
          <p:cNvGrpSpPr/>
          <p:nvPr/>
        </p:nvGrpSpPr>
        <p:grpSpPr>
          <a:xfrm>
            <a:off x="6343092" y="551147"/>
            <a:ext cx="5470690" cy="2077560"/>
            <a:chOff x="6343092" y="551147"/>
            <a:chExt cx="5470690" cy="2077560"/>
          </a:xfrm>
        </p:grpSpPr>
        <p:grpSp>
          <p:nvGrpSpPr>
            <p:cNvPr id="35" name="diagramSemPhon">
              <a:extLst>
                <a:ext uri="{FF2B5EF4-FFF2-40B4-BE49-F238E27FC236}">
                  <a16:creationId xmlns:a16="http://schemas.microsoft.com/office/drawing/2014/main" id="{667CBBE7-2954-E7C9-855C-94F4BD148B09}"/>
                </a:ext>
              </a:extLst>
            </p:cNvPr>
            <p:cNvGrpSpPr/>
            <p:nvPr/>
          </p:nvGrpSpPr>
          <p:grpSpPr>
            <a:xfrm>
              <a:off x="6343092" y="551147"/>
              <a:ext cx="5470690" cy="1824408"/>
              <a:chOff x="6476212" y="714380"/>
              <a:chExt cx="5470690" cy="1824408"/>
            </a:xfrm>
          </p:grpSpPr>
          <p:pic>
            <p:nvPicPr>
              <p:cNvPr id="1028" name="brainsSemPhon">
                <a:hlinkClick r:id="rId4"/>
                <a:extLst>
                  <a:ext uri="{FF2B5EF4-FFF2-40B4-BE49-F238E27FC236}">
                    <a16:creationId xmlns:a16="http://schemas.microsoft.com/office/drawing/2014/main" id="{A28425F0-C19C-A84F-E5A0-CCCBA8C2D43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7911"/>
              <a:stretch/>
            </p:blipFill>
            <p:spPr bwMode="auto">
              <a:xfrm>
                <a:off x="6476213" y="1318537"/>
                <a:ext cx="5470689" cy="1220251"/>
              </a:xfrm>
              <a:prstGeom prst="rect">
                <a:avLst/>
              </a:prstGeom>
              <a:noFill/>
              <a:extLst>
                <a:ext uri="{909E8E84-426E-40DD-AFC4-6F175D3DCCD1}">
                  <a14:hiddenFill xmlns:a14="http://schemas.microsoft.com/office/drawing/2010/main">
                    <a:solidFill>
                      <a:srgbClr val="FFFFFF"/>
                    </a:solidFill>
                  </a14:hiddenFill>
                </a:ext>
              </a:extLst>
            </p:spPr>
          </p:pic>
          <p:pic>
            <p:nvPicPr>
              <p:cNvPr id="30" name="legendaSemPhon">
                <a:extLst>
                  <a:ext uri="{FF2B5EF4-FFF2-40B4-BE49-F238E27FC236}">
                    <a16:creationId xmlns:a16="http://schemas.microsoft.com/office/drawing/2014/main" id="{23E9573C-50C4-4A51-6BF4-31B9CAC7ADD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77" b="79239"/>
              <a:stretch/>
            </p:blipFill>
            <p:spPr bwMode="auto">
              <a:xfrm>
                <a:off x="6476212" y="714380"/>
                <a:ext cx="5470689" cy="604157"/>
              </a:xfrm>
              <a:prstGeom prst="rect">
                <a:avLst/>
              </a:prstGeom>
              <a:noFill/>
              <a:extLst>
                <a:ext uri="{909E8E84-426E-40DD-AFC4-6F175D3DCCD1}">
                  <a14:hiddenFill xmlns:a14="http://schemas.microsoft.com/office/drawing/2010/main">
                    <a:solidFill>
                      <a:srgbClr val="FFFFFF"/>
                    </a:solidFill>
                  </a14:hiddenFill>
                </a:ext>
              </a:extLst>
            </p:spPr>
          </p:pic>
          <p:sp>
            <p:nvSpPr>
              <p:cNvPr id="31" name="white1">
                <a:extLst>
                  <a:ext uri="{FF2B5EF4-FFF2-40B4-BE49-F238E27FC236}">
                    <a16:creationId xmlns:a16="http://schemas.microsoft.com/office/drawing/2014/main" id="{26FBBB1F-9F8A-3175-0F6D-A7CE03B6242A}"/>
                  </a:ext>
                </a:extLst>
              </p:cNvPr>
              <p:cNvSpPr/>
              <p:nvPr/>
            </p:nvSpPr>
            <p:spPr>
              <a:xfrm>
                <a:off x="7097678" y="1055387"/>
                <a:ext cx="3214498" cy="263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white2">
                <a:extLst>
                  <a:ext uri="{FF2B5EF4-FFF2-40B4-BE49-F238E27FC236}">
                    <a16:creationId xmlns:a16="http://schemas.microsoft.com/office/drawing/2014/main" id="{5BFF89C7-C748-9AFD-27F0-E818ABF41297}"/>
                  </a:ext>
                </a:extLst>
              </p:cNvPr>
              <p:cNvSpPr/>
              <p:nvPr/>
            </p:nvSpPr>
            <p:spPr>
              <a:xfrm>
                <a:off x="10991599" y="1268584"/>
                <a:ext cx="400133" cy="804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middleline">
                <a:extLst>
                  <a:ext uri="{FF2B5EF4-FFF2-40B4-BE49-F238E27FC236}">
                    <a16:creationId xmlns:a16="http://schemas.microsoft.com/office/drawing/2014/main" id="{7E662B16-1DA7-B02F-2DC0-1C5706FBFA8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9015" t="64471" r="49222" b="13637"/>
              <a:stretch/>
            </p:blipFill>
            <p:spPr bwMode="auto">
              <a:xfrm>
                <a:off x="9156306" y="717554"/>
                <a:ext cx="96455" cy="634693"/>
              </a:xfrm>
              <a:prstGeom prst="rect">
                <a:avLst/>
              </a:prstGeom>
              <a:noFill/>
              <a:extLst>
                <a:ext uri="{909E8E84-426E-40DD-AFC4-6F175D3DCCD1}">
                  <a14:hiddenFill xmlns:a14="http://schemas.microsoft.com/office/drawing/2010/main">
                    <a:solidFill>
                      <a:srgbClr val="FFFFFF"/>
                    </a:solidFill>
                  </a14:hiddenFill>
                </a:ext>
              </a:extLst>
            </p:spPr>
          </p:pic>
          <p:sp>
            <p:nvSpPr>
              <p:cNvPr id="32" name="white3">
                <a:extLst>
                  <a:ext uri="{FF2B5EF4-FFF2-40B4-BE49-F238E27FC236}">
                    <a16:creationId xmlns:a16="http://schemas.microsoft.com/office/drawing/2014/main" id="{FCAD0DD0-37F0-42AF-A583-6DCD02AE2621}"/>
                  </a:ext>
                </a:extLst>
              </p:cNvPr>
              <p:cNvSpPr/>
              <p:nvPr/>
            </p:nvSpPr>
            <p:spPr>
              <a:xfrm>
                <a:off x="6994622" y="1273976"/>
                <a:ext cx="206109" cy="899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citeimage">
              <a:extLst>
                <a:ext uri="{FF2B5EF4-FFF2-40B4-BE49-F238E27FC236}">
                  <a16:creationId xmlns:a16="http://schemas.microsoft.com/office/drawing/2014/main" id="{3B4AA5A0-22C7-AC9F-00CA-1024145149B4}"/>
                </a:ext>
              </a:extLst>
            </p:cNvPr>
            <p:cNvSpPr txBox="1"/>
            <p:nvPr/>
          </p:nvSpPr>
          <p:spPr>
            <a:xfrm>
              <a:off x="9249388" y="2351708"/>
              <a:ext cx="2564394" cy="276999"/>
            </a:xfrm>
            <a:prstGeom prst="rect">
              <a:avLst/>
            </a:prstGeom>
            <a:noFill/>
          </p:spPr>
          <p:txBody>
            <a:bodyPr wrap="square" rtlCol="0" anchor="ctr">
              <a:spAutoFit/>
            </a:bodyPr>
            <a:lstStyle/>
            <a:p>
              <a:pPr algn="r"/>
              <a:r>
                <a:rPr lang="en-US" sz="600" i="1" dirty="0">
                  <a:latin typeface="Franklin Gothic Medium" panose="020B0603020102020204" pitchFamily="34" charset="0"/>
                </a:rPr>
                <a:t>Figure 3. </a:t>
              </a:r>
              <a:r>
                <a:rPr lang="en-US" sz="600" dirty="0">
                  <a:latin typeface="Franklin Gothic Medium" panose="020B0603020102020204" pitchFamily="34" charset="0"/>
                </a:rPr>
                <a:t>Semantics and Phonology Overlap and Contrast Brain Imaging. </a:t>
              </a:r>
            </a:p>
            <a:p>
              <a:pPr algn="r"/>
              <a:r>
                <a:rPr lang="en-US" sz="600" dirty="0">
                  <a:latin typeface="Franklin Gothic Medium" panose="020B0603020102020204" pitchFamily="34" charset="0"/>
                </a:rPr>
                <a:t>Note. Adapted from</a:t>
              </a:r>
              <a:r>
                <a:rPr lang="en-US" sz="600" i="1" dirty="0">
                  <a:latin typeface="Franklin Gothic Medium" panose="020B0603020102020204" pitchFamily="34" charset="0"/>
                </a:rPr>
                <a:t> Hodgson et al. (2021)</a:t>
              </a:r>
            </a:p>
          </p:txBody>
        </p:sp>
      </p:grpSp>
      <p:grpSp>
        <p:nvGrpSpPr>
          <p:cNvPr id="61" name="neuralLang">
            <a:extLst>
              <a:ext uri="{FF2B5EF4-FFF2-40B4-BE49-F238E27FC236}">
                <a16:creationId xmlns:a16="http://schemas.microsoft.com/office/drawing/2014/main" id="{5DA8E41E-942E-15C4-639F-6450D3E30D48}"/>
              </a:ext>
            </a:extLst>
          </p:cNvPr>
          <p:cNvGrpSpPr/>
          <p:nvPr/>
        </p:nvGrpSpPr>
        <p:grpSpPr>
          <a:xfrm>
            <a:off x="306474" y="1268585"/>
            <a:ext cx="4325722" cy="1644297"/>
            <a:chOff x="306474" y="1268585"/>
            <a:chExt cx="4325722" cy="1644297"/>
          </a:xfrm>
        </p:grpSpPr>
        <p:sp>
          <p:nvSpPr>
            <p:cNvPr id="8" name="TextBox 7">
              <a:extLst>
                <a:ext uri="{FF2B5EF4-FFF2-40B4-BE49-F238E27FC236}">
                  <a16:creationId xmlns:a16="http://schemas.microsoft.com/office/drawing/2014/main" id="{CA197429-91B5-5A61-B67C-3ACE6D84DD65}"/>
                </a:ext>
              </a:extLst>
            </p:cNvPr>
            <p:cNvSpPr txBox="1"/>
            <p:nvPr/>
          </p:nvSpPr>
          <p:spPr>
            <a:xfrm>
              <a:off x="306474" y="1268585"/>
              <a:ext cx="3149600" cy="400110"/>
            </a:xfrm>
            <a:prstGeom prst="rect">
              <a:avLst/>
            </a:prstGeom>
            <a:noFill/>
          </p:spPr>
          <p:txBody>
            <a:bodyPr wrap="square" rtlCol="0" anchor="ctr">
              <a:spAutoFit/>
            </a:bodyPr>
            <a:lstStyle/>
            <a:p>
              <a:pPr algn="ctr"/>
              <a:r>
                <a:rPr lang="en-US" sz="2000" i="1">
                  <a:latin typeface="Franklin Gothic Medium" panose="020B0603020102020204" pitchFamily="34" charset="0"/>
                </a:rPr>
                <a:t>neural language network</a:t>
              </a:r>
            </a:p>
          </p:txBody>
        </p:sp>
        <p:grpSp>
          <p:nvGrpSpPr>
            <p:cNvPr id="60" name="neuralLangArrow">
              <a:extLst>
                <a:ext uri="{FF2B5EF4-FFF2-40B4-BE49-F238E27FC236}">
                  <a16:creationId xmlns:a16="http://schemas.microsoft.com/office/drawing/2014/main" id="{6B7A5525-D691-9D7A-584E-68B68046FB2B}"/>
                </a:ext>
              </a:extLst>
            </p:cNvPr>
            <p:cNvGrpSpPr/>
            <p:nvPr/>
          </p:nvGrpSpPr>
          <p:grpSpPr>
            <a:xfrm>
              <a:off x="1800068" y="1666564"/>
              <a:ext cx="2832128" cy="1246318"/>
              <a:chOff x="1800068" y="1666564"/>
              <a:chExt cx="2832128" cy="1246318"/>
            </a:xfrm>
          </p:grpSpPr>
          <p:cxnSp>
            <p:nvCxnSpPr>
              <p:cNvPr id="52" name="Curved Connector 51">
                <a:extLst>
                  <a:ext uri="{FF2B5EF4-FFF2-40B4-BE49-F238E27FC236}">
                    <a16:creationId xmlns:a16="http://schemas.microsoft.com/office/drawing/2014/main" id="{A216BF1A-71A8-2720-4E96-3537ECA98915}"/>
                  </a:ext>
                </a:extLst>
              </p:cNvPr>
              <p:cNvCxnSpPr>
                <a:cxnSpLocks/>
              </p:cNvCxnSpPr>
              <p:nvPr/>
            </p:nvCxnSpPr>
            <p:spPr>
              <a:xfrm rot="10800000">
                <a:off x="1800068" y="1666564"/>
                <a:ext cx="2832128" cy="1168776"/>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C15E33DC-01A1-2D57-627C-30A657F6A866}"/>
                  </a:ext>
                </a:extLst>
              </p:cNvPr>
              <p:cNvCxnSpPr/>
              <p:nvPr/>
            </p:nvCxnSpPr>
            <p:spPr>
              <a:xfrm>
                <a:off x="4632196" y="2835341"/>
                <a:ext cx="0" cy="77541"/>
              </a:xfrm>
              <a:prstGeom prst="line">
                <a:avLst/>
              </a:prstGeom>
            </p:spPr>
            <p:style>
              <a:lnRef idx="1">
                <a:schemeClr val="dk1"/>
              </a:lnRef>
              <a:fillRef idx="0">
                <a:schemeClr val="dk1"/>
              </a:fillRef>
              <a:effectRef idx="0">
                <a:schemeClr val="dk1"/>
              </a:effectRef>
              <a:fontRef idx="minor">
                <a:schemeClr val="tx1"/>
              </a:fontRef>
            </p:style>
          </p:cxnSp>
        </p:grpSp>
      </p:grpSp>
      <p:grpSp>
        <p:nvGrpSpPr>
          <p:cNvPr id="47" name="FATgroup">
            <a:extLst>
              <a:ext uri="{FF2B5EF4-FFF2-40B4-BE49-F238E27FC236}">
                <a16:creationId xmlns:a16="http://schemas.microsoft.com/office/drawing/2014/main" id="{BD7FA846-014C-A8AE-ECBF-7779245BD685}"/>
              </a:ext>
            </a:extLst>
          </p:cNvPr>
          <p:cNvGrpSpPr/>
          <p:nvPr/>
        </p:nvGrpSpPr>
        <p:grpSpPr>
          <a:xfrm>
            <a:off x="240237" y="5121096"/>
            <a:ext cx="3435796" cy="1482113"/>
            <a:chOff x="240237" y="5187356"/>
            <a:chExt cx="3435796" cy="1482113"/>
          </a:xfrm>
        </p:grpSpPr>
        <p:pic>
          <p:nvPicPr>
            <p:cNvPr id="17" name="FATimage">
              <a:hlinkClick r:id="rId6"/>
              <a:extLst>
                <a:ext uri="{FF2B5EF4-FFF2-40B4-BE49-F238E27FC236}">
                  <a16:creationId xmlns:a16="http://schemas.microsoft.com/office/drawing/2014/main" id="{F921EA84-4335-A05A-3790-7DD7B172D15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2815" t="56266" r="4809" b="8659"/>
            <a:stretch/>
          </p:blipFill>
          <p:spPr bwMode="auto">
            <a:xfrm>
              <a:off x="1885404" y="5187356"/>
              <a:ext cx="1790629" cy="1482113"/>
            </a:xfrm>
            <a:prstGeom prst="roundRect">
              <a:avLst>
                <a:gd name="adj" fmla="val 8594"/>
              </a:avLst>
            </a:prstGeom>
            <a:solidFill>
              <a:srgbClr val="FFFFFF">
                <a:shade val="85000"/>
              </a:srgbClr>
            </a:solidFill>
            <a:ln>
              <a:noFill/>
            </a:ln>
            <a:effectLst/>
          </p:spPr>
        </p:pic>
        <p:sp>
          <p:nvSpPr>
            <p:cNvPr id="19" name="FAT">
              <a:extLst>
                <a:ext uri="{FF2B5EF4-FFF2-40B4-BE49-F238E27FC236}">
                  <a16:creationId xmlns:a16="http://schemas.microsoft.com/office/drawing/2014/main" id="{466CDEA4-0A1A-CCFF-CD28-13771F10E24E}"/>
                </a:ext>
              </a:extLst>
            </p:cNvPr>
            <p:cNvSpPr txBox="1"/>
            <p:nvPr/>
          </p:nvSpPr>
          <p:spPr>
            <a:xfrm>
              <a:off x="240237" y="5687129"/>
              <a:ext cx="1645167" cy="523220"/>
            </a:xfrm>
            <a:prstGeom prst="rect">
              <a:avLst/>
            </a:prstGeom>
            <a:noFill/>
          </p:spPr>
          <p:txBody>
            <a:bodyPr wrap="square" rtlCol="0" anchor="ctr">
              <a:spAutoFit/>
            </a:bodyPr>
            <a:lstStyle/>
            <a:p>
              <a:pPr algn="ctr"/>
              <a:r>
                <a:rPr lang="en-US" sz="1400">
                  <a:latin typeface="Franklin Gothic Medium Cond" panose="020B0606030402020204" pitchFamily="34" charset="0"/>
                </a:rPr>
                <a:t>frontal aslant tract (FAT)</a:t>
              </a:r>
            </a:p>
          </p:txBody>
        </p:sp>
      </p:grpSp>
      <p:grpSp>
        <p:nvGrpSpPr>
          <p:cNvPr id="48" name="speechNetworkgroup">
            <a:extLst>
              <a:ext uri="{FF2B5EF4-FFF2-40B4-BE49-F238E27FC236}">
                <a16:creationId xmlns:a16="http://schemas.microsoft.com/office/drawing/2014/main" id="{AA13C898-2DCE-1401-4902-805BFBE69783}"/>
              </a:ext>
            </a:extLst>
          </p:cNvPr>
          <p:cNvGrpSpPr/>
          <p:nvPr/>
        </p:nvGrpSpPr>
        <p:grpSpPr>
          <a:xfrm>
            <a:off x="821424" y="4033615"/>
            <a:ext cx="2650680" cy="964686"/>
            <a:chOff x="821424" y="4033615"/>
            <a:chExt cx="2650680" cy="964686"/>
          </a:xfrm>
        </p:grpSpPr>
        <p:sp>
          <p:nvSpPr>
            <p:cNvPr id="12" name="speech network">
              <a:extLst>
                <a:ext uri="{FF2B5EF4-FFF2-40B4-BE49-F238E27FC236}">
                  <a16:creationId xmlns:a16="http://schemas.microsoft.com/office/drawing/2014/main" id="{2344B0D9-0F23-E3CD-C09B-2B9B72F42D78}"/>
                </a:ext>
              </a:extLst>
            </p:cNvPr>
            <p:cNvSpPr txBox="1"/>
            <p:nvPr/>
          </p:nvSpPr>
          <p:spPr>
            <a:xfrm>
              <a:off x="821424" y="4598191"/>
              <a:ext cx="1950056" cy="400110"/>
            </a:xfrm>
            <a:prstGeom prst="rect">
              <a:avLst/>
            </a:prstGeom>
            <a:noFill/>
          </p:spPr>
          <p:txBody>
            <a:bodyPr wrap="square" rtlCol="0" anchor="ctr">
              <a:spAutoFit/>
            </a:bodyPr>
            <a:lstStyle/>
            <a:p>
              <a:pPr algn="ctr"/>
              <a:r>
                <a:rPr lang="en-US" sz="2000" b="1" i="1" dirty="0">
                  <a:latin typeface="Franklin Gothic Demi" panose="020B0603020102020204" pitchFamily="34" charset="0"/>
                </a:rPr>
                <a:t>speech network</a:t>
              </a:r>
            </a:p>
          </p:txBody>
        </p:sp>
        <p:cxnSp>
          <p:nvCxnSpPr>
            <p:cNvPr id="21" name="speechNetworkArrow">
              <a:extLst>
                <a:ext uri="{FF2B5EF4-FFF2-40B4-BE49-F238E27FC236}">
                  <a16:creationId xmlns:a16="http://schemas.microsoft.com/office/drawing/2014/main" id="{CB390F73-76D7-9239-84E8-67C40FBC35D2}"/>
                </a:ext>
              </a:extLst>
            </p:cNvPr>
            <p:cNvCxnSpPr>
              <a:cxnSpLocks/>
              <a:endCxn id="12" idx="0"/>
            </p:cNvCxnSpPr>
            <p:nvPr/>
          </p:nvCxnSpPr>
          <p:spPr>
            <a:xfrm rot="10800000" flipV="1">
              <a:off x="1796453" y="4033615"/>
              <a:ext cx="1675651" cy="564576"/>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grpSp>
      <p:grpSp>
        <p:nvGrpSpPr>
          <p:cNvPr id="51" name="coreNetworkgroup">
            <a:extLst>
              <a:ext uri="{FF2B5EF4-FFF2-40B4-BE49-F238E27FC236}">
                <a16:creationId xmlns:a16="http://schemas.microsoft.com/office/drawing/2014/main" id="{F7CD1086-F162-9005-44E0-3AA234A8A546}"/>
              </a:ext>
            </a:extLst>
          </p:cNvPr>
          <p:cNvGrpSpPr/>
          <p:nvPr/>
        </p:nvGrpSpPr>
        <p:grpSpPr>
          <a:xfrm>
            <a:off x="3472099" y="4034155"/>
            <a:ext cx="3276881" cy="845252"/>
            <a:chOff x="3472099" y="4034155"/>
            <a:chExt cx="3276881" cy="845252"/>
          </a:xfrm>
        </p:grpSpPr>
        <p:sp>
          <p:nvSpPr>
            <p:cNvPr id="16" name="core network">
              <a:extLst>
                <a:ext uri="{FF2B5EF4-FFF2-40B4-BE49-F238E27FC236}">
                  <a16:creationId xmlns:a16="http://schemas.microsoft.com/office/drawing/2014/main" id="{CD40AA4C-E997-77DA-1948-7A059A756269}"/>
                </a:ext>
              </a:extLst>
            </p:cNvPr>
            <p:cNvSpPr txBox="1"/>
            <p:nvPr/>
          </p:nvSpPr>
          <p:spPr>
            <a:xfrm>
              <a:off x="5073328" y="4479297"/>
              <a:ext cx="1675652" cy="400110"/>
            </a:xfrm>
            <a:prstGeom prst="rect">
              <a:avLst/>
            </a:prstGeom>
            <a:noFill/>
          </p:spPr>
          <p:txBody>
            <a:bodyPr wrap="square" rtlCol="0" anchor="ctr">
              <a:spAutoFit/>
            </a:bodyPr>
            <a:lstStyle/>
            <a:p>
              <a:pPr algn="ctr"/>
              <a:r>
                <a:rPr lang="en-US" sz="2000" b="1" i="1">
                  <a:latin typeface="Franklin Gothic Demi" panose="020B0603020102020204" pitchFamily="34" charset="0"/>
                </a:rPr>
                <a:t>core network</a:t>
              </a:r>
            </a:p>
          </p:txBody>
        </p:sp>
        <p:cxnSp>
          <p:nvCxnSpPr>
            <p:cNvPr id="23" name="coreNetworkArrow">
              <a:extLst>
                <a:ext uri="{FF2B5EF4-FFF2-40B4-BE49-F238E27FC236}">
                  <a16:creationId xmlns:a16="http://schemas.microsoft.com/office/drawing/2014/main" id="{DF279FC2-10CA-2157-5CF1-056BDE40252F}"/>
                </a:ext>
              </a:extLst>
            </p:cNvPr>
            <p:cNvCxnSpPr>
              <a:cxnSpLocks/>
              <a:endCxn id="16" idx="0"/>
            </p:cNvCxnSpPr>
            <p:nvPr/>
          </p:nvCxnSpPr>
          <p:spPr>
            <a:xfrm>
              <a:off x="3472099" y="4034155"/>
              <a:ext cx="2439055" cy="445142"/>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grpSp>
      <p:cxnSp>
        <p:nvCxnSpPr>
          <p:cNvPr id="24" name="line for 2 native lang subnetworks">
            <a:extLst>
              <a:ext uri="{FF2B5EF4-FFF2-40B4-BE49-F238E27FC236}">
                <a16:creationId xmlns:a16="http://schemas.microsoft.com/office/drawing/2014/main" id="{C7109A4F-43AC-1C8F-9E25-C836E33BE067}"/>
              </a:ext>
            </a:extLst>
          </p:cNvPr>
          <p:cNvCxnSpPr/>
          <p:nvPr/>
        </p:nvCxnSpPr>
        <p:spPr>
          <a:xfrm flipV="1">
            <a:off x="3472099" y="3958202"/>
            <a:ext cx="0" cy="75413"/>
          </a:xfrm>
          <a:prstGeom prst="line">
            <a:avLst/>
          </a:prstGeom>
        </p:spPr>
        <p:style>
          <a:lnRef idx="1">
            <a:schemeClr val="dk1"/>
          </a:lnRef>
          <a:fillRef idx="0">
            <a:schemeClr val="dk1"/>
          </a:fillRef>
          <a:effectRef idx="0">
            <a:schemeClr val="dk1"/>
          </a:effectRef>
          <a:fontRef idx="minor">
            <a:schemeClr val="tx1"/>
          </a:fontRef>
        </p:style>
      </p:cxnSp>
      <p:pic>
        <p:nvPicPr>
          <p:cNvPr id="25" name="hemispheres" descr="brain lateralization">
            <a:extLst>
              <a:ext uri="{FF2B5EF4-FFF2-40B4-BE49-F238E27FC236}">
                <a16:creationId xmlns:a16="http://schemas.microsoft.com/office/drawing/2014/main" id="{B77E4142-1002-351D-74C1-460E10B5BA3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90226" y="5023402"/>
            <a:ext cx="3117507" cy="1327455"/>
          </a:xfrm>
          <a:prstGeom prst="roundRect">
            <a:avLst>
              <a:gd name="adj" fmla="val 8594"/>
            </a:avLst>
          </a:prstGeom>
          <a:solidFill>
            <a:srgbClr val="FFFFFF">
              <a:shade val="85000"/>
            </a:srgbClr>
          </a:solidFill>
          <a:ln>
            <a:noFill/>
          </a:ln>
          <a:effectLst/>
        </p:spPr>
      </p:pic>
      <p:grpSp>
        <p:nvGrpSpPr>
          <p:cNvPr id="26" name="3 lobes">
            <a:extLst>
              <a:ext uri="{FF2B5EF4-FFF2-40B4-BE49-F238E27FC236}">
                <a16:creationId xmlns:a16="http://schemas.microsoft.com/office/drawing/2014/main" id="{8E5E649C-73D0-E318-FF6C-E148A76E675A}"/>
              </a:ext>
            </a:extLst>
          </p:cNvPr>
          <p:cNvGrpSpPr/>
          <p:nvPr/>
        </p:nvGrpSpPr>
        <p:grpSpPr>
          <a:xfrm>
            <a:off x="8656783" y="4101446"/>
            <a:ext cx="3299626" cy="1555921"/>
            <a:chOff x="626495" y="850392"/>
            <a:chExt cx="10936855" cy="5157216"/>
          </a:xfrm>
          <a:effectLst/>
        </p:grpSpPr>
        <p:pic>
          <p:nvPicPr>
            <p:cNvPr id="28" name="OG" descr="brain sections">
              <a:extLst>
                <a:ext uri="{FF2B5EF4-FFF2-40B4-BE49-F238E27FC236}">
                  <a16:creationId xmlns:a16="http://schemas.microsoft.com/office/drawing/2014/main" id="{A213EED4-2AF8-5992-F1BD-4BF172F745A4}"/>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26495" y="850900"/>
              <a:ext cx="10934700" cy="5156200"/>
            </a:xfrm>
            <a:prstGeom prst="roundRect">
              <a:avLst>
                <a:gd name="adj" fmla="val 16667"/>
              </a:avLst>
            </a:prstGeom>
            <a:ln>
              <a:noFill/>
            </a:ln>
            <a:effectLst/>
            <a:scene3d>
              <a:camera prst="orthographicFront"/>
              <a:lightRig rig="contrasting" dir="t">
                <a:rot lat="0" lon="0" rev="4200000"/>
              </a:lightRig>
            </a:scene3d>
            <a:sp3d prstMaterial="plastic">
              <a:contourClr>
                <a:srgbClr val="969696"/>
              </a:contourClr>
            </a:sp3d>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D00E28A4-382D-141F-2DEC-81B173A0D24B}"/>
                </a:ext>
              </a:extLst>
            </p:cNvPr>
            <p:cNvGrpSpPr/>
            <p:nvPr/>
          </p:nvGrpSpPr>
          <p:grpSpPr>
            <a:xfrm>
              <a:off x="626495" y="850392"/>
              <a:ext cx="10936855" cy="5157216"/>
              <a:chOff x="626495" y="850392"/>
              <a:chExt cx="10936855" cy="5157216"/>
            </a:xfrm>
          </p:grpSpPr>
          <p:pic>
            <p:nvPicPr>
              <p:cNvPr id="37" name="faded" descr="brain sections">
                <a:extLst>
                  <a:ext uri="{FF2B5EF4-FFF2-40B4-BE49-F238E27FC236}">
                    <a16:creationId xmlns:a16="http://schemas.microsoft.com/office/drawing/2014/main" id="{5A82ADA5-89E2-2268-B54D-E698D2DD5D1D}"/>
                  </a:ext>
                </a:extLst>
              </p:cNvPr>
              <p:cNvPicPr>
                <a:picLocks noChangeAspect="1" noChangeArrowheads="1"/>
              </p:cNvPicPr>
              <p:nvPr/>
            </p:nvPicPr>
            <p:blipFill>
              <a:blip r:embed="rId11">
                <a:duotone>
                  <a:schemeClr val="bg2">
                    <a:shade val="45000"/>
                    <a:satMod val="135000"/>
                  </a:schemeClr>
                  <a:prstClr val="white"/>
                </a:duotone>
                <a:extLst>
                  <a:ext uri="{BEBA8EAE-BF5A-486C-A8C5-ECC9F3942E4B}">
                    <a14:imgProps xmlns:a14="http://schemas.microsoft.com/office/drawing/2010/main">
                      <a14:imgLayer r:embed="rId12">
                        <a14:imgEffect>
                          <a14:backgroundRemoval t="9606" b="95567" l="9640" r="98374">
                            <a14:foregroundMark x1="59350" y1="87931" x2="59814" y2="90887"/>
                            <a14:foregroundMark x1="33449" y1="86453" x2="41115" y2="87931"/>
                            <a14:foregroundMark x1="33566" y1="94335" x2="33449" y2="95567"/>
                            <a14:foregroundMark x1="49593" y1="92611" x2="50987" y2="90887"/>
                            <a14:foregroundMark x1="53468" y1="88487" x2="54123" y2="87931"/>
                            <a14:foregroundMark x1="52381" y1="89409" x2="53205" y2="88710"/>
                            <a14:foregroundMark x1="79326" y1="79557" x2="84785" y2="80296"/>
                            <a14:foregroundMark x1="84785" y1="80296" x2="80372" y2="85222"/>
                            <a14:foregroundMark x1="73171" y1="84975" x2="70151" y2="82512"/>
                            <a14:foregroundMark x1="83508" y1="45567" x2="90360" y2="45813"/>
                            <a14:foregroundMark x1="90360" y1="45813" x2="89082" y2="53448"/>
                            <a14:foregroundMark x1="94657" y1="47044" x2="95587" y2="52956"/>
                            <a14:foregroundMark x1="97096" y1="47044" x2="98374" y2="53941"/>
                            <a14:foregroundMark x1="78513" y1="52956" x2="76655" y2="53941"/>
                            <a14:foregroundMark x1="53775" y1="86946" x2="53775" y2="86946"/>
                            <a14:foregroundMark x1="53775" y1="88177" x2="54472" y2="87192"/>
                            <a14:foregroundMark x1="53891" y1="86207" x2="53891" y2="86207"/>
                            <a14:foregroundMark x1="53775" y1="85714" x2="54123" y2="87685"/>
                            <a14:foregroundMark x1="53775" y1="85468" x2="54355" y2="87438"/>
                            <a14:foregroundMark x1="52497" y1="88670" x2="54123" y2="86453"/>
                            <a14:foregroundMark x1="54007" y1="85961" x2="53310" y2="84975"/>
                            <a14:foregroundMark x1="54355" y1="86700" x2="55168" y2="90394"/>
                            <a14:foregroundMark x1="53426" y1="86453" x2="53035" y2="84958"/>
                            <a14:backgroundMark x1="55401" y1="94335" x2="55168" y2="91133"/>
                            <a14:backgroundMark x1="55168" y1="90640" x2="54820" y2="92118"/>
                            <a14:backgroundMark x1="51916" y1="84975" x2="52729" y2="85714"/>
                          </a14:backgroundRemoval>
                        </a14:imgEffect>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626495" y="850392"/>
                <a:ext cx="10936855" cy="5157216"/>
              </a:xfrm>
              <a:prstGeom prst="roundRect">
                <a:avLst>
                  <a:gd name="adj" fmla="val 16667"/>
                </a:avLst>
              </a:prstGeom>
              <a:ln>
                <a:noFill/>
              </a:ln>
              <a:effectLst/>
              <a:scene3d>
                <a:camera prst="orthographicFront"/>
                <a:lightRig rig="contrasting" dir="t">
                  <a:rot lat="0" lon="0" rev="4200000"/>
                </a:lightRig>
              </a:scene3d>
              <a:sp3d prstMaterial="plastic">
                <a:contourClr>
                  <a:srgbClr val="969696"/>
                </a:contourClr>
              </a:sp3d>
              <a:extLst>
                <a:ext uri="{909E8E84-426E-40DD-AFC4-6F175D3DCCD1}">
                  <a14:hiddenFill xmlns:a14="http://schemas.microsoft.com/office/drawing/2010/main">
                    <a:solidFill>
                      <a:srgbClr val="FFFFFF"/>
                    </a:solidFill>
                  </a14:hiddenFill>
                </a:ext>
              </a:extLst>
            </p:spPr>
          </p:pic>
          <p:pic>
            <p:nvPicPr>
              <p:cNvPr id="38" name="3lobes" descr="brain sections">
                <a:extLst>
                  <a:ext uri="{FF2B5EF4-FFF2-40B4-BE49-F238E27FC236}">
                    <a16:creationId xmlns:a16="http://schemas.microsoft.com/office/drawing/2014/main" id="{D720A1DC-6275-2307-6EE0-CEA0C76180CC}"/>
                  </a:ext>
                </a:extLst>
              </p:cNvPr>
              <p:cNvPicPr>
                <a:picLocks noChangeAspect="1" noChangeArrowheads="1"/>
              </p:cNvPicPr>
              <p:nvPr/>
            </p:nvPicPr>
            <p:blipFill>
              <a:blip r:embed="rId13">
                <a:extLst>
                  <a:ext uri="{BEBA8EAE-BF5A-486C-A8C5-ECC9F3942E4B}">
                    <a14:imgProps xmlns:a14="http://schemas.microsoft.com/office/drawing/2010/main">
                      <a14:imgLayer r:embed="rId14">
                        <a14:imgEffect>
                          <a14:backgroundRemoval t="5419" b="89409" l="2323" r="92915">
                            <a14:foregroundMark x1="25668" y1="13547" x2="27991" y2="22906"/>
                            <a14:foregroundMark x1="27991" y1="22906" x2="28455" y2="22414"/>
                            <a14:foregroundMark x1="34959" y1="25123" x2="30430" y2="19704"/>
                            <a14:foregroundMark x1="30430" y1="19704" x2="30430" y2="19704"/>
                            <a14:foregroundMark x1="25087" y1="6404" x2="13937" y2="5172"/>
                            <a14:foregroundMark x1="13937" y1="5172" x2="9524" y2="6650"/>
                            <a14:foregroundMark x1="9524" y1="6650" x2="9292" y2="6897"/>
                            <a14:foregroundMark x1="5110" y1="6650" x2="2323" y2="14532"/>
                            <a14:foregroundMark x1="2323" y1="14532" x2="2439" y2="15271"/>
                            <a14:foregroundMark x1="5807" y1="52217" x2="20906" y2="54680"/>
                            <a14:foregroundMark x1="20906" y1="54680" x2="7782" y2="62069"/>
                            <a14:foregroundMark x1="7782" y1="62069" x2="12544" y2="69458"/>
                            <a14:foregroundMark x1="12544" y1="69458" x2="18235" y2="67980"/>
                            <a14:foregroundMark x1="18235" y1="67980" x2="31359" y2="71182"/>
                            <a14:foregroundMark x1="34379" y1="70936" x2="34379" y2="70936"/>
                            <a14:foregroundMark x1="36237" y1="70936" x2="36237" y2="70936"/>
                            <a14:foregroundMark x1="37282" y1="70936" x2="37282" y2="70936"/>
                            <a14:foregroundMark x1="71429" y1="7143" x2="70499" y2="16256"/>
                            <a14:foregroundMark x1="67695" y1="22414" x2="67247" y2="23399"/>
                            <a14:foregroundMark x1="70499" y1="16256" x2="68502" y2="20642"/>
                            <a14:foregroundMark x1="69631" y1="21995" x2="71429" y2="20936"/>
                            <a14:foregroundMark x1="68501" y1="22660" x2="69013" y2="22358"/>
                            <a14:foregroundMark x1="67247" y1="23399" x2="68501" y2="22660"/>
                            <a14:foregroundMark x1="71429" y1="20936" x2="74681" y2="27094"/>
                            <a14:foregroundMark x1="74681" y1="27094" x2="90244" y2="22906"/>
                            <a14:foregroundMark x1="90244" y1="22906" x2="89547" y2="13054"/>
                            <a14:foregroundMark x1="89547" y1="13054" x2="86760" y2="5665"/>
                            <a14:foregroundMark x1="86760" y1="5665" x2="75029" y2="9360"/>
                            <a14:foregroundMark x1="90708" y1="4926" x2="92799" y2="13054"/>
                            <a14:foregroundMark x1="92799" y1="13054" x2="92915" y2="26108"/>
                            <a14:backgroundMark x1="51684" y1="73153" x2="62485" y2="76847"/>
                            <a14:backgroundMark x1="69570" y1="55911" x2="69570" y2="55911"/>
                            <a14:backgroundMark x1="69106" y1="43842" x2="73403" y2="69212"/>
                            <a14:backgroundMark x1="73403" y1="69212" x2="73868" y2="70197"/>
                            <a14:backgroundMark x1="68757" y1="24631" x2="69454" y2="22906"/>
                            <a14:backgroundMark x1="69686" y1="22414" x2="69686" y2="22414"/>
                            <a14:backgroundMark x1="69803" y1="22414" x2="69803" y2="22414"/>
                            <a14:backgroundMark x1="69570" y1="22414" x2="69570" y2="22414"/>
                            <a14:backgroundMark x1="69803" y1="21921" x2="69570" y2="22906"/>
                            <a14:backgroundMark x1="69919" y1="22414" x2="69919" y2="22414"/>
                            <a14:backgroundMark x1="69803" y1="22167" x2="69686" y2="23399"/>
                            <a14:backgroundMark x1="69919" y1="22660" x2="69919" y2="22660"/>
                          </a14:backgroundRemoval>
                        </a14:imgEffect>
                      </a14:imgLayer>
                    </a14:imgProps>
                  </a:ext>
                  <a:ext uri="{28A0092B-C50C-407E-A947-70E740481C1C}">
                    <a14:useLocalDpi xmlns:a14="http://schemas.microsoft.com/office/drawing/2010/main" val="0"/>
                  </a:ext>
                </a:extLst>
              </a:blip>
              <a:srcRect/>
              <a:stretch>
                <a:fillRect/>
              </a:stretch>
            </p:blipFill>
            <p:spPr bwMode="auto">
              <a:xfrm>
                <a:off x="626495" y="850392"/>
                <a:ext cx="10936855" cy="5157216"/>
              </a:xfrm>
              <a:prstGeom prst="roundRect">
                <a:avLst>
                  <a:gd name="adj" fmla="val 16667"/>
                </a:avLst>
              </a:prstGeom>
              <a:ln>
                <a:noFill/>
              </a:ln>
              <a:effectLst/>
              <a:scene3d>
                <a:camera prst="orthographicFront"/>
                <a:lightRig rig="contrasting" dir="t">
                  <a:rot lat="0" lon="0" rev="4200000"/>
                </a:lightRig>
              </a:scene3d>
              <a:sp3d prstMaterial="plastic">
                <a:contourClr>
                  <a:srgbClr val="969696"/>
                </a:contourClr>
              </a:sp3d>
              <a:extLst>
                <a:ext uri="{909E8E84-426E-40DD-AFC4-6F175D3DCCD1}">
                  <a14:hiddenFill xmlns:a14="http://schemas.microsoft.com/office/drawing/2010/main">
                    <a:solidFill>
                      <a:srgbClr val="FFFFFF"/>
                    </a:solidFill>
                  </a14:hiddenFill>
                </a:ext>
              </a:extLst>
            </p:spPr>
          </p:pic>
        </p:grpSp>
      </p:grpSp>
      <p:sp>
        <p:nvSpPr>
          <p:cNvPr id="39" name="+CC">
            <a:extLst>
              <a:ext uri="{FF2B5EF4-FFF2-40B4-BE49-F238E27FC236}">
                <a16:creationId xmlns:a16="http://schemas.microsoft.com/office/drawing/2014/main" id="{42D73E84-D137-B305-8A0F-0717B19494C0}"/>
              </a:ext>
            </a:extLst>
          </p:cNvPr>
          <p:cNvSpPr txBox="1"/>
          <p:nvPr/>
        </p:nvSpPr>
        <p:spPr>
          <a:xfrm>
            <a:off x="5073328" y="6441939"/>
            <a:ext cx="1790629" cy="307777"/>
          </a:xfrm>
          <a:prstGeom prst="rect">
            <a:avLst/>
          </a:prstGeom>
          <a:noFill/>
        </p:spPr>
        <p:txBody>
          <a:bodyPr wrap="square" rtlCol="0" anchor="ctr">
            <a:spAutoFit/>
          </a:bodyPr>
          <a:lstStyle/>
          <a:p>
            <a:pPr algn="ctr"/>
            <a:r>
              <a:rPr lang="en-US" sz="1400" dirty="0">
                <a:latin typeface="Franklin Gothic Medium Cond" panose="020B0606030402020204" pitchFamily="34" charset="0"/>
              </a:rPr>
              <a:t>+ corpus callosum (CC)</a:t>
            </a:r>
          </a:p>
        </p:txBody>
      </p:sp>
      <p:cxnSp>
        <p:nvCxnSpPr>
          <p:cNvPr id="40" name="hem--&gt;lobes">
            <a:extLst>
              <a:ext uri="{FF2B5EF4-FFF2-40B4-BE49-F238E27FC236}">
                <a16:creationId xmlns:a16="http://schemas.microsoft.com/office/drawing/2014/main" id="{B337F2B7-D0A6-5352-7F73-88298AC30EE0}"/>
              </a:ext>
            </a:extLst>
          </p:cNvPr>
          <p:cNvCxnSpPr>
            <a:cxnSpLocks/>
          </p:cNvCxnSpPr>
          <p:nvPr/>
        </p:nvCxnSpPr>
        <p:spPr>
          <a:xfrm flipV="1">
            <a:off x="7867650" y="4652376"/>
            <a:ext cx="760202" cy="322849"/>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grpSp>
        <p:nvGrpSpPr>
          <p:cNvPr id="46" name="matterAcq&amp;Devgroup">
            <a:extLst>
              <a:ext uri="{FF2B5EF4-FFF2-40B4-BE49-F238E27FC236}">
                <a16:creationId xmlns:a16="http://schemas.microsoft.com/office/drawing/2014/main" id="{DD105A29-B5CF-0B66-2AC7-14AD2F4C23C7}"/>
              </a:ext>
            </a:extLst>
          </p:cNvPr>
          <p:cNvGrpSpPr/>
          <p:nvPr/>
        </p:nvGrpSpPr>
        <p:grpSpPr>
          <a:xfrm>
            <a:off x="1832396" y="1605964"/>
            <a:ext cx="2220434" cy="1160429"/>
            <a:chOff x="1885404" y="1711980"/>
            <a:chExt cx="2220434" cy="1160429"/>
          </a:xfrm>
        </p:grpSpPr>
        <p:sp>
          <p:nvSpPr>
            <p:cNvPr id="6" name="matterAcq&amp;Dev">
              <a:extLst>
                <a:ext uri="{FF2B5EF4-FFF2-40B4-BE49-F238E27FC236}">
                  <a16:creationId xmlns:a16="http://schemas.microsoft.com/office/drawing/2014/main" id="{D65DDE9B-E248-8CD7-B2ED-D6F630AB33B5}"/>
                </a:ext>
              </a:extLst>
            </p:cNvPr>
            <p:cNvSpPr txBox="1"/>
            <p:nvPr/>
          </p:nvSpPr>
          <p:spPr>
            <a:xfrm>
              <a:off x="1885404" y="1711980"/>
              <a:ext cx="2220434" cy="523220"/>
            </a:xfrm>
            <a:prstGeom prst="rect">
              <a:avLst/>
            </a:prstGeom>
            <a:noFill/>
          </p:spPr>
          <p:txBody>
            <a:bodyPr wrap="square" rtlCol="0" anchor="ctr">
              <a:spAutoFit/>
            </a:bodyPr>
            <a:lstStyle/>
            <a:p>
              <a:pPr algn="ctr"/>
              <a:r>
                <a:rPr lang="en-US" sz="1400" i="1" dirty="0">
                  <a:latin typeface="Franklin Gothic Medium" panose="020B0603020102020204" pitchFamily="34" charset="0"/>
                </a:rPr>
                <a:t>matter:</a:t>
              </a:r>
            </a:p>
            <a:p>
              <a:pPr algn="ctr"/>
              <a:r>
                <a:rPr lang="en-US" sz="1400" i="1" dirty="0">
                  <a:latin typeface="Franklin Gothic Medium" panose="020B0603020102020204" pitchFamily="34" charset="0"/>
                </a:rPr>
                <a:t>acquisition &amp; development</a:t>
              </a:r>
            </a:p>
          </p:txBody>
        </p:sp>
        <p:cxnSp>
          <p:nvCxnSpPr>
            <p:cNvPr id="41" name="matterAcq&amp;DevArrow">
              <a:extLst>
                <a:ext uri="{FF2B5EF4-FFF2-40B4-BE49-F238E27FC236}">
                  <a16:creationId xmlns:a16="http://schemas.microsoft.com/office/drawing/2014/main" id="{4812A95A-74EC-2182-F659-8A5DB11C9176}"/>
                </a:ext>
              </a:extLst>
            </p:cNvPr>
            <p:cNvCxnSpPr>
              <a:endCxn id="6" idx="2"/>
            </p:cNvCxnSpPr>
            <p:nvPr/>
          </p:nvCxnSpPr>
          <p:spPr>
            <a:xfrm flipH="1" flipV="1">
              <a:off x="2995621" y="2235200"/>
              <a:ext cx="572527" cy="6372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44" name="CPHgroup">
            <a:extLst>
              <a:ext uri="{FF2B5EF4-FFF2-40B4-BE49-F238E27FC236}">
                <a16:creationId xmlns:a16="http://schemas.microsoft.com/office/drawing/2014/main" id="{9005DAB0-BCCB-F5DA-43CE-63768350F0C9}"/>
              </a:ext>
            </a:extLst>
          </p:cNvPr>
          <p:cNvGrpSpPr/>
          <p:nvPr/>
        </p:nvGrpSpPr>
        <p:grpSpPr>
          <a:xfrm>
            <a:off x="4237922" y="551930"/>
            <a:ext cx="3149600" cy="2208863"/>
            <a:chOff x="4290930" y="657946"/>
            <a:chExt cx="3149600" cy="2208863"/>
          </a:xfrm>
        </p:grpSpPr>
        <p:sp>
          <p:nvSpPr>
            <p:cNvPr id="9" name="CPH">
              <a:extLst>
                <a:ext uri="{FF2B5EF4-FFF2-40B4-BE49-F238E27FC236}">
                  <a16:creationId xmlns:a16="http://schemas.microsoft.com/office/drawing/2014/main" id="{CE63B76D-A2AD-C2E1-8D66-0E6DBBF0DA0C}"/>
                </a:ext>
              </a:extLst>
            </p:cNvPr>
            <p:cNvSpPr txBox="1"/>
            <p:nvPr/>
          </p:nvSpPr>
          <p:spPr>
            <a:xfrm>
              <a:off x="4290930" y="657946"/>
              <a:ext cx="3149600" cy="646331"/>
            </a:xfrm>
            <a:prstGeom prst="rect">
              <a:avLst/>
            </a:prstGeom>
            <a:noFill/>
          </p:spPr>
          <p:txBody>
            <a:bodyPr wrap="square" rtlCol="0" anchor="ctr">
              <a:spAutoFit/>
            </a:bodyPr>
            <a:lstStyle/>
            <a:p>
              <a:pPr algn="ctr"/>
              <a:r>
                <a:rPr lang="en-US" sz="1400" i="1" dirty="0">
                  <a:latin typeface="Franklin Gothic Medium" panose="020B0603020102020204" pitchFamily="34" charset="0"/>
                </a:rPr>
                <a:t>CPH</a:t>
              </a:r>
            </a:p>
            <a:p>
              <a:pPr algn="ctr"/>
              <a:r>
                <a:rPr lang="en-US" sz="1100" i="1" dirty="0">
                  <a:latin typeface="Franklin Gothic Medium" panose="020B0603020102020204" pitchFamily="34" charset="0"/>
                </a:rPr>
                <a:t>“The neural language system […] is established around the age of ten/eleven years” </a:t>
              </a:r>
              <a:r>
                <a:rPr lang="en-US" sz="800" i="1" dirty="0">
                  <a:latin typeface="Franklin Gothic Medium" panose="020B0603020102020204" pitchFamily="34" charset="0"/>
                </a:rPr>
                <a:t>(Wei et al., 2023)</a:t>
              </a:r>
              <a:endParaRPr lang="en-US" sz="1100" i="1" dirty="0">
                <a:latin typeface="Franklin Gothic Medium" panose="020B0603020102020204" pitchFamily="34" charset="0"/>
              </a:endParaRPr>
            </a:p>
          </p:txBody>
        </p:sp>
        <p:cxnSp>
          <p:nvCxnSpPr>
            <p:cNvPr id="42" name="CPHArrow">
              <a:extLst>
                <a:ext uri="{FF2B5EF4-FFF2-40B4-BE49-F238E27FC236}">
                  <a16:creationId xmlns:a16="http://schemas.microsoft.com/office/drawing/2014/main" id="{06B38C82-EB71-8DC9-A9EF-C1C44E39D24A}"/>
                </a:ext>
              </a:extLst>
            </p:cNvPr>
            <p:cNvCxnSpPr>
              <a:cxnSpLocks/>
              <a:endCxn id="9" idx="2"/>
            </p:cNvCxnSpPr>
            <p:nvPr/>
          </p:nvCxnSpPr>
          <p:spPr>
            <a:xfrm flipV="1">
              <a:off x="4522304" y="1304277"/>
              <a:ext cx="1343426" cy="15625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45" name="1st≠2ndgroup">
            <a:extLst>
              <a:ext uri="{FF2B5EF4-FFF2-40B4-BE49-F238E27FC236}">
                <a16:creationId xmlns:a16="http://schemas.microsoft.com/office/drawing/2014/main" id="{160B0A09-B1CD-AD09-C991-1969CDC477C9}"/>
              </a:ext>
            </a:extLst>
          </p:cNvPr>
          <p:cNvGrpSpPr/>
          <p:nvPr/>
        </p:nvGrpSpPr>
        <p:grpSpPr>
          <a:xfrm>
            <a:off x="5662814" y="1605964"/>
            <a:ext cx="4590774" cy="1154829"/>
            <a:chOff x="5715822" y="1711980"/>
            <a:chExt cx="4590774" cy="1154829"/>
          </a:xfrm>
        </p:grpSpPr>
        <p:sp>
          <p:nvSpPr>
            <p:cNvPr id="11" name="1st≠2nd">
              <a:extLst>
                <a:ext uri="{FF2B5EF4-FFF2-40B4-BE49-F238E27FC236}">
                  <a16:creationId xmlns:a16="http://schemas.microsoft.com/office/drawing/2014/main" id="{91E977C2-741A-C644-AAE7-A737C1DEC601}"/>
                </a:ext>
              </a:extLst>
            </p:cNvPr>
            <p:cNvSpPr txBox="1"/>
            <p:nvPr/>
          </p:nvSpPr>
          <p:spPr>
            <a:xfrm>
              <a:off x="8086163" y="1711980"/>
              <a:ext cx="2220433" cy="523220"/>
            </a:xfrm>
            <a:prstGeom prst="rect">
              <a:avLst/>
            </a:prstGeom>
            <a:noFill/>
          </p:spPr>
          <p:txBody>
            <a:bodyPr wrap="square" rtlCol="0" anchor="ctr">
              <a:spAutoFit/>
            </a:bodyPr>
            <a:lstStyle/>
            <a:p>
              <a:pPr algn="ctr"/>
              <a:r>
                <a:rPr lang="en-US" sz="1400" i="1">
                  <a:latin typeface="Franklin Gothic Medium" panose="020B0603020102020204" pitchFamily="34" charset="0"/>
                </a:rPr>
                <a:t>matter changes:</a:t>
              </a:r>
            </a:p>
            <a:p>
              <a:pPr algn="ctr"/>
              <a:r>
                <a:rPr lang="en-US" sz="1400" i="1">
                  <a:latin typeface="Franklin Gothic Medium" panose="020B0603020102020204" pitchFamily="34" charset="0"/>
                </a:rPr>
                <a:t>1</a:t>
              </a:r>
              <a:r>
                <a:rPr lang="en-US" sz="1400" i="1" baseline="30000">
                  <a:latin typeface="Franklin Gothic Medium" panose="020B0603020102020204" pitchFamily="34" charset="0"/>
                </a:rPr>
                <a:t>st</a:t>
              </a:r>
              <a:r>
                <a:rPr lang="en-US" sz="1400" i="1">
                  <a:latin typeface="Franklin Gothic Medium" panose="020B0603020102020204" pitchFamily="34" charset="0"/>
                </a:rPr>
                <a:t> network ≠ 2</a:t>
              </a:r>
              <a:r>
                <a:rPr lang="en-US" sz="1400" i="1" baseline="30000">
                  <a:latin typeface="Franklin Gothic Medium" panose="020B0603020102020204" pitchFamily="34" charset="0"/>
                </a:rPr>
                <a:t>nd</a:t>
              </a:r>
              <a:r>
                <a:rPr lang="en-US" sz="1400" i="1">
                  <a:latin typeface="Franklin Gothic Medium" panose="020B0603020102020204" pitchFamily="34" charset="0"/>
                </a:rPr>
                <a:t> network</a:t>
              </a:r>
            </a:p>
          </p:txBody>
        </p:sp>
        <p:cxnSp>
          <p:nvCxnSpPr>
            <p:cNvPr id="43" name="1st≠2ndArrow">
              <a:extLst>
                <a:ext uri="{FF2B5EF4-FFF2-40B4-BE49-F238E27FC236}">
                  <a16:creationId xmlns:a16="http://schemas.microsoft.com/office/drawing/2014/main" id="{C31EB3F0-3CE1-A69E-D4AA-8BB3618A0420}"/>
                </a:ext>
              </a:extLst>
            </p:cNvPr>
            <p:cNvCxnSpPr>
              <a:cxnSpLocks/>
            </p:cNvCxnSpPr>
            <p:nvPr/>
          </p:nvCxnSpPr>
          <p:spPr>
            <a:xfrm flipV="1">
              <a:off x="5715822" y="2235200"/>
              <a:ext cx="2370341" cy="6316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18" name="+CC">
            <a:extLst>
              <a:ext uri="{FF2B5EF4-FFF2-40B4-BE49-F238E27FC236}">
                <a16:creationId xmlns:a16="http://schemas.microsoft.com/office/drawing/2014/main" id="{9DA1CCC3-C2A4-3976-2ECF-A81BF1B8C0F9}"/>
              </a:ext>
            </a:extLst>
          </p:cNvPr>
          <p:cNvSpPr txBox="1"/>
          <p:nvPr/>
        </p:nvSpPr>
        <p:spPr>
          <a:xfrm>
            <a:off x="8629917" y="5678049"/>
            <a:ext cx="3117507" cy="577081"/>
          </a:xfrm>
          <a:prstGeom prst="rect">
            <a:avLst/>
          </a:prstGeom>
          <a:noFill/>
        </p:spPr>
        <p:txBody>
          <a:bodyPr wrap="square" rtlCol="0" anchor="ctr">
            <a:spAutoFit/>
          </a:bodyPr>
          <a:lstStyle/>
          <a:p>
            <a:pPr marL="285750" indent="-285750">
              <a:buFont typeface="Arial" panose="020B0604020202020204" pitchFamily="34" charset="0"/>
              <a:buChar char="•"/>
            </a:pPr>
            <a:r>
              <a:rPr lang="en-US" sz="1050" dirty="0">
                <a:latin typeface="Franklin Gothic Medium Cond" panose="020B0606030402020204" pitchFamily="34" charset="0"/>
              </a:rPr>
              <a:t>IFG (inferior frontal gyrus)</a:t>
            </a:r>
          </a:p>
          <a:p>
            <a:pPr marL="285750" indent="-285750">
              <a:buFont typeface="Arial" panose="020B0604020202020204" pitchFamily="34" charset="0"/>
              <a:buChar char="•"/>
            </a:pPr>
            <a:r>
              <a:rPr lang="en-US" sz="1050" dirty="0">
                <a:latin typeface="Franklin Gothic Medium Cond" panose="020B0606030402020204" pitchFamily="34" charset="0"/>
              </a:rPr>
              <a:t>TL (temporal lobe)</a:t>
            </a:r>
          </a:p>
          <a:p>
            <a:pPr marL="285750" indent="-285750">
              <a:buFont typeface="Arial" panose="020B0604020202020204" pitchFamily="34" charset="0"/>
              <a:buChar char="•"/>
            </a:pPr>
            <a:r>
              <a:rPr lang="en-US" sz="1050" dirty="0">
                <a:latin typeface="Franklin Gothic Medium Cond" panose="020B0606030402020204" pitchFamily="34" charset="0"/>
              </a:rPr>
              <a:t>IPL (inferior parietal lobe)</a:t>
            </a:r>
          </a:p>
        </p:txBody>
      </p:sp>
      <p:sp>
        <p:nvSpPr>
          <p:cNvPr id="53" name="fig6-lobes">
            <a:extLst>
              <a:ext uri="{FF2B5EF4-FFF2-40B4-BE49-F238E27FC236}">
                <a16:creationId xmlns:a16="http://schemas.microsoft.com/office/drawing/2014/main" id="{F5C9CA76-3ADF-4F16-A54E-F0C752DC8303}"/>
              </a:ext>
            </a:extLst>
          </p:cNvPr>
          <p:cNvSpPr txBox="1"/>
          <p:nvPr/>
        </p:nvSpPr>
        <p:spPr>
          <a:xfrm>
            <a:off x="9672925" y="5643943"/>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6. </a:t>
            </a:r>
            <a:r>
              <a:rPr lang="en-US" sz="400" dirty="0">
                <a:latin typeface="Franklin Gothic Medium" panose="020B0603020102020204" pitchFamily="34" charset="0"/>
              </a:rPr>
              <a:t>Temporal, Frontal, and Parietal lobe summary.</a:t>
            </a:r>
          </a:p>
          <a:p>
            <a:pPr algn="r"/>
            <a:r>
              <a:rPr lang="en-US" sz="400" dirty="0">
                <a:latin typeface="Franklin Gothic Medium" panose="020B0603020102020204" pitchFamily="34" charset="0"/>
              </a:rPr>
              <a:t>Note. Adapted from</a:t>
            </a:r>
            <a:r>
              <a:rPr lang="en-US" sz="400" i="1" dirty="0">
                <a:latin typeface="Franklin Gothic Medium" panose="020B0603020102020204" pitchFamily="34" charset="0"/>
              </a:rPr>
              <a:t> Cornell (2016b)</a:t>
            </a:r>
            <a:endParaRPr lang="en-US" sz="400" i="1" dirty="0">
              <a:highlight>
                <a:srgbClr val="00FFFF"/>
              </a:highlight>
              <a:latin typeface="Franklin Gothic Medium" panose="020B0603020102020204" pitchFamily="34" charset="0"/>
            </a:endParaRPr>
          </a:p>
        </p:txBody>
      </p:sp>
      <p:sp>
        <p:nvSpPr>
          <p:cNvPr id="55" name="fig5-hems">
            <a:extLst>
              <a:ext uri="{FF2B5EF4-FFF2-40B4-BE49-F238E27FC236}">
                <a16:creationId xmlns:a16="http://schemas.microsoft.com/office/drawing/2014/main" id="{BFA8680F-4D00-B813-FBC9-8EBB8DFBAA30}"/>
              </a:ext>
            </a:extLst>
          </p:cNvPr>
          <p:cNvSpPr txBox="1"/>
          <p:nvPr/>
        </p:nvSpPr>
        <p:spPr>
          <a:xfrm>
            <a:off x="5812722" y="6322313"/>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5. </a:t>
            </a:r>
            <a:r>
              <a:rPr lang="en-US" sz="400" dirty="0">
                <a:latin typeface="Franklin Gothic Medium" panose="020B0603020102020204" pitchFamily="34" charset="0"/>
              </a:rPr>
              <a:t>Summaries of the left and right hemispheres of the brain.</a:t>
            </a:r>
          </a:p>
          <a:p>
            <a:pPr algn="r"/>
            <a:r>
              <a:rPr lang="en-US" sz="400" dirty="0">
                <a:latin typeface="Franklin Gothic Medium" panose="020B0603020102020204" pitchFamily="34" charset="0"/>
              </a:rPr>
              <a:t>Note. Adapted from Cornell (2016c)</a:t>
            </a:r>
            <a:endParaRPr lang="en-US" sz="400" i="1" dirty="0">
              <a:highlight>
                <a:srgbClr val="00FFFF"/>
              </a:highlight>
              <a:latin typeface="Franklin Gothic Medium" panose="020B0603020102020204" pitchFamily="34" charset="0"/>
            </a:endParaRPr>
          </a:p>
        </p:txBody>
      </p:sp>
      <p:sp>
        <p:nvSpPr>
          <p:cNvPr id="56" name="fig4-fat">
            <a:extLst>
              <a:ext uri="{FF2B5EF4-FFF2-40B4-BE49-F238E27FC236}">
                <a16:creationId xmlns:a16="http://schemas.microsoft.com/office/drawing/2014/main" id="{910FA93A-2594-00CB-3868-E5C9AEB0B82F}"/>
              </a:ext>
            </a:extLst>
          </p:cNvPr>
          <p:cNvSpPr txBox="1"/>
          <p:nvPr/>
        </p:nvSpPr>
        <p:spPr>
          <a:xfrm>
            <a:off x="1162793" y="6589595"/>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4. </a:t>
            </a:r>
            <a:r>
              <a:rPr lang="en-US" sz="400" dirty="0">
                <a:latin typeface="Franklin Gothic Medium" panose="020B0603020102020204" pitchFamily="34" charset="0"/>
              </a:rPr>
              <a:t>Diagram of the frontal aslant tract (FAT).</a:t>
            </a:r>
          </a:p>
          <a:p>
            <a:pPr algn="r"/>
            <a:r>
              <a:rPr lang="en-US" sz="400" dirty="0">
                <a:latin typeface="Franklin Gothic Medium" panose="020B0603020102020204" pitchFamily="34" charset="0"/>
              </a:rPr>
              <a:t>Note. Adapted from La Corte (2021)</a:t>
            </a:r>
            <a:endParaRPr lang="en-US" sz="400" i="1" dirty="0">
              <a:highlight>
                <a:srgbClr val="00FFFF"/>
              </a:highlight>
              <a:latin typeface="Franklin Gothic Medium" panose="020B0603020102020204" pitchFamily="34" charset="0"/>
            </a:endParaRPr>
          </a:p>
        </p:txBody>
      </p:sp>
      <p:sp>
        <p:nvSpPr>
          <p:cNvPr id="57" name="fig2-matter">
            <a:extLst>
              <a:ext uri="{FF2B5EF4-FFF2-40B4-BE49-F238E27FC236}">
                <a16:creationId xmlns:a16="http://schemas.microsoft.com/office/drawing/2014/main" id="{4C825DCA-E7C6-C2D8-BA9F-97C9DC4688E0}"/>
              </a:ext>
            </a:extLst>
          </p:cNvPr>
          <p:cNvSpPr txBox="1"/>
          <p:nvPr/>
        </p:nvSpPr>
        <p:spPr>
          <a:xfrm>
            <a:off x="1446395" y="6144037"/>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2. </a:t>
            </a:r>
            <a:r>
              <a:rPr lang="en-US" sz="400" dirty="0">
                <a:latin typeface="Franklin Gothic Medium" panose="020B0603020102020204" pitchFamily="34" charset="0"/>
              </a:rPr>
              <a:t>Diagram of white matter, grey matter, and ventricles.</a:t>
            </a:r>
          </a:p>
          <a:p>
            <a:pPr algn="r"/>
            <a:r>
              <a:rPr lang="en-US" sz="400" dirty="0">
                <a:latin typeface="Franklin Gothic Medium" panose="020B0603020102020204" pitchFamily="34" charset="0"/>
              </a:rPr>
              <a:t>Note. Adapted from Cornell (2016a) </a:t>
            </a:r>
            <a:endParaRPr lang="en-US" sz="400" i="1" dirty="0">
              <a:highlight>
                <a:srgbClr val="00FFFF"/>
              </a:highlight>
              <a:latin typeface="Franklin Gothic Medium" panose="020B0603020102020204" pitchFamily="34" charset="0"/>
            </a:endParaRPr>
          </a:p>
        </p:txBody>
      </p:sp>
      <p:sp>
        <p:nvSpPr>
          <p:cNvPr id="63" name="Footer Placeholder 18">
            <a:extLst>
              <a:ext uri="{FF2B5EF4-FFF2-40B4-BE49-F238E27FC236}">
                <a16:creationId xmlns:a16="http://schemas.microsoft.com/office/drawing/2014/main" id="{4A8FF7AF-0235-FF2D-A9CA-B5D6BBC508A4}"/>
              </a:ext>
            </a:extLst>
          </p:cNvPr>
          <p:cNvSpPr>
            <a:spLocks noGrp="1"/>
          </p:cNvSpPr>
          <p:nvPr>
            <p:ph type="ftr" sz="quarter" idx="11"/>
          </p:nvPr>
        </p:nvSpPr>
        <p:spPr>
          <a:xfrm>
            <a:off x="257672" y="12862"/>
            <a:ext cx="4114800" cy="365125"/>
          </a:xfrm>
        </p:spPr>
        <p:txBody>
          <a:bodyPr/>
          <a:lstStyle/>
          <a:p>
            <a:pPr algn="l"/>
            <a:r>
              <a:rPr lang="en-US" dirty="0"/>
              <a:t>Lara </a:t>
            </a:r>
            <a:r>
              <a:rPr lang="en-US" dirty="0" err="1"/>
              <a:t>Baldez</a:t>
            </a:r>
            <a:r>
              <a:rPr lang="en-US" dirty="0"/>
              <a:t> Duque Ribeiro</a:t>
            </a:r>
          </a:p>
        </p:txBody>
      </p:sp>
      <p:sp>
        <p:nvSpPr>
          <p:cNvPr id="4096" name="Slide Number Placeholder 19">
            <a:extLst>
              <a:ext uri="{FF2B5EF4-FFF2-40B4-BE49-F238E27FC236}">
                <a16:creationId xmlns:a16="http://schemas.microsoft.com/office/drawing/2014/main" id="{C7B10919-7361-E2C6-E91B-7851EE4245D6}"/>
              </a:ext>
            </a:extLst>
          </p:cNvPr>
          <p:cNvSpPr>
            <a:spLocks noGrp="1"/>
          </p:cNvSpPr>
          <p:nvPr>
            <p:ph type="sldNum" sz="quarter" idx="12"/>
          </p:nvPr>
        </p:nvSpPr>
        <p:spPr>
          <a:xfrm>
            <a:off x="9191128" y="12862"/>
            <a:ext cx="2743200" cy="365125"/>
          </a:xfrm>
        </p:spPr>
        <p:txBody>
          <a:bodyPr/>
          <a:lstStyle/>
          <a:p>
            <a:r>
              <a:rPr lang="en-US" dirty="0"/>
              <a:t>PSYC 216, May 2023 | </a:t>
            </a:r>
            <a:fld id="{2E7CF561-7B99-E44F-923B-79EAE0C9A6C5}" type="slidenum">
              <a:rPr lang="en-US" smtClean="0"/>
              <a:t>2</a:t>
            </a:fld>
            <a:endParaRPr lang="en-US" dirty="0"/>
          </a:p>
        </p:txBody>
      </p:sp>
    </p:spTree>
    <p:extLst>
      <p:ext uri="{BB962C8B-B14F-4D97-AF65-F5344CB8AC3E}">
        <p14:creationId xmlns:p14="http://schemas.microsoft.com/office/powerpoint/2010/main" val="426771703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par>
                                <p:cTn id="8" presetID="1"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xit" presetSubtype="1" fill="hold" grpId="1" nodeType="clickEffect">
                                  <p:stCondLst>
                                    <p:cond delay="0"/>
                                  </p:stCondLst>
                                  <p:childTnLst>
                                    <p:animEffect transition="out" filter="wipe(up)">
                                      <p:cBhvr>
                                        <p:cTn id="18" dur="200"/>
                                        <p:tgtEl>
                                          <p:spTgt spid="7"/>
                                        </p:tgtEl>
                                      </p:cBhvr>
                                    </p:animEffect>
                                    <p:set>
                                      <p:cBhvr>
                                        <p:cTn id="19" dur="1" fill="hold">
                                          <p:stCondLst>
                                            <p:cond delay="199"/>
                                          </p:stCondLst>
                                        </p:cTn>
                                        <p:tgtEl>
                                          <p:spTgt spid="7"/>
                                        </p:tgtEl>
                                        <p:attrNameLst>
                                          <p:attrName>style.visibility</p:attrName>
                                        </p:attrNameLst>
                                      </p:cBhvr>
                                      <p:to>
                                        <p:strVal val="hidden"/>
                                      </p:to>
                                    </p:set>
                                  </p:childTnLst>
                                </p:cTn>
                              </p:par>
                              <p:par>
                                <p:cTn id="20" presetID="22" presetClass="entr" presetSubtype="1" fill="hold" nodeType="withEffect">
                                  <p:stCondLst>
                                    <p:cond delay="0"/>
                                  </p:stCondLst>
                                  <p:childTnLst>
                                    <p:set>
                                      <p:cBhvr>
                                        <p:cTn id="21" dur="1" fill="hold">
                                          <p:stCondLst>
                                            <p:cond delay="0"/>
                                          </p:stCondLst>
                                        </p:cTn>
                                        <p:tgtEl>
                                          <p:spTgt spid="4098"/>
                                        </p:tgtEl>
                                        <p:attrNameLst>
                                          <p:attrName>style.visibility</p:attrName>
                                        </p:attrNameLst>
                                      </p:cBhvr>
                                      <p:to>
                                        <p:strVal val="visible"/>
                                      </p:to>
                                    </p:set>
                                    <p:animEffect transition="in" filter="wipe(up)">
                                      <p:cBhvr>
                                        <p:cTn id="22" dur="500"/>
                                        <p:tgtEl>
                                          <p:spTgt spid="4098"/>
                                        </p:tgtEl>
                                      </p:cBhvr>
                                    </p:animEffec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4098"/>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57"/>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4"/>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3"/>
                                        </p:tgtEl>
                                      </p:cBhvr>
                                    </p:animEffect>
                                    <p:set>
                                      <p:cBhvr>
                                        <p:cTn id="41" dur="1" fill="hold">
                                          <p:stCondLst>
                                            <p:cond delay="499"/>
                                          </p:stCondLst>
                                        </p:cTn>
                                        <p:tgtEl>
                                          <p:spTgt spid="3"/>
                                        </p:tgtEl>
                                        <p:attrNameLst>
                                          <p:attrName>style.visibility</p:attrName>
                                        </p:attrNameLst>
                                      </p:cBhvr>
                                      <p:to>
                                        <p:strVal val="hidden"/>
                                      </p:to>
                                    </p:set>
                                  </p:childTnLst>
                                </p:cTn>
                              </p:par>
                              <p:par>
                                <p:cTn id="42" presetID="1" presetClass="entr" presetSubtype="0" fill="hold" grpId="0" nodeType="withEffect">
                                  <p:stCondLst>
                                    <p:cond delay="0"/>
                                  </p:stCondLst>
                                  <p:childTnLst>
                                    <p:set>
                                      <p:cBhvr>
                                        <p:cTn id="43" dur="1" fill="hold">
                                          <p:stCondLst>
                                            <p:cond delay="0"/>
                                          </p:stCondLst>
                                        </p:cTn>
                                        <p:tgtEl>
                                          <p:spTgt spid="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61"/>
                                        </p:tgtEl>
                                        <p:attrNameLst>
                                          <p:attrName>style.visibility</p:attrName>
                                        </p:attrNameLst>
                                      </p:cBhvr>
                                      <p:to>
                                        <p:strVal val="visible"/>
                                      </p:to>
                                    </p:set>
                                    <p:animEffect transition="in" filter="wipe(down)">
                                      <p:cBhvr>
                                        <p:cTn id="48" dur="500"/>
                                        <p:tgtEl>
                                          <p:spTgt spid="6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wipe(left)">
                                      <p:cBhvr>
                                        <p:cTn id="53" dur="500"/>
                                        <p:tgtEl>
                                          <p:spTgt spid="3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0"/>
                                        </p:tgtEl>
                                        <p:attrNameLst>
                                          <p:attrName>style.visibility</p:attrName>
                                        </p:attrNameLst>
                                      </p:cBhvr>
                                      <p:to>
                                        <p:strVal val="visible"/>
                                      </p:to>
                                    </p:set>
                                    <p:animEffect transition="in" filter="wipe(left)">
                                      <p:cBhvr>
                                        <p:cTn id="58" dur="500"/>
                                        <p:tgtEl>
                                          <p:spTgt spid="5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xit" presetSubtype="2" fill="hold" nodeType="clickEffect">
                                  <p:stCondLst>
                                    <p:cond delay="0"/>
                                  </p:stCondLst>
                                  <p:childTnLst>
                                    <p:animEffect transition="out" filter="wipe(right)">
                                      <p:cBhvr>
                                        <p:cTn id="62" dur="500"/>
                                        <p:tgtEl>
                                          <p:spTgt spid="50"/>
                                        </p:tgtEl>
                                      </p:cBhvr>
                                    </p:animEffect>
                                    <p:set>
                                      <p:cBhvr>
                                        <p:cTn id="63" dur="1" fill="hold">
                                          <p:stCondLst>
                                            <p:cond delay="499"/>
                                          </p:stCondLst>
                                        </p:cTn>
                                        <p:tgtEl>
                                          <p:spTgt spid="50"/>
                                        </p:tgtEl>
                                        <p:attrNameLst>
                                          <p:attrName>style.visibility</p:attrName>
                                        </p:attrNameLst>
                                      </p:cBhvr>
                                      <p:to>
                                        <p:strVal val="hidden"/>
                                      </p:to>
                                    </p:set>
                                  </p:childTnLst>
                                </p:cTn>
                              </p:par>
                            </p:childTnLst>
                          </p:cTn>
                        </p:par>
                        <p:par>
                          <p:cTn id="64" fill="hold">
                            <p:stCondLst>
                              <p:cond delay="500"/>
                            </p:stCondLst>
                            <p:childTnLst>
                              <p:par>
                                <p:cTn id="65" presetID="22" presetClass="exit" presetSubtype="2" fill="hold" nodeType="afterEffect">
                                  <p:stCondLst>
                                    <p:cond delay="0"/>
                                  </p:stCondLst>
                                  <p:childTnLst>
                                    <p:animEffect transition="out" filter="wipe(right)">
                                      <p:cBhvr>
                                        <p:cTn id="66" dur="200"/>
                                        <p:tgtEl>
                                          <p:spTgt spid="36"/>
                                        </p:tgtEl>
                                      </p:cBhvr>
                                    </p:animEffect>
                                    <p:set>
                                      <p:cBhvr>
                                        <p:cTn id="67" dur="1" fill="hold">
                                          <p:stCondLst>
                                            <p:cond delay="199"/>
                                          </p:stCondLst>
                                        </p:cTn>
                                        <p:tgtEl>
                                          <p:spTgt spid="36"/>
                                        </p:tgtEl>
                                        <p:attrNameLst>
                                          <p:attrName>style.visibility</p:attrName>
                                        </p:attrNameLst>
                                      </p:cBhvr>
                                      <p:to>
                                        <p:strVal val="hidden"/>
                                      </p:to>
                                    </p:set>
                                  </p:childTnLst>
                                </p:cTn>
                              </p:par>
                            </p:childTnLst>
                          </p:cTn>
                        </p:par>
                        <p:par>
                          <p:cTn id="68" fill="hold">
                            <p:stCondLst>
                              <p:cond delay="700"/>
                            </p:stCondLst>
                            <p:childTnLst>
                              <p:par>
                                <p:cTn id="69" presetID="22" presetClass="exit" presetSubtype="2" fill="hold" nodeType="afterEffect">
                                  <p:stCondLst>
                                    <p:cond delay="0"/>
                                  </p:stCondLst>
                                  <p:childTnLst>
                                    <p:animEffect transition="out" filter="wipe(right)">
                                      <p:cBhvr>
                                        <p:cTn id="70" dur="200"/>
                                        <p:tgtEl>
                                          <p:spTgt spid="61"/>
                                        </p:tgtEl>
                                      </p:cBhvr>
                                    </p:animEffect>
                                    <p:set>
                                      <p:cBhvr>
                                        <p:cTn id="71" dur="1" fill="hold">
                                          <p:stCondLst>
                                            <p:cond delay="199"/>
                                          </p:stCondLst>
                                        </p:cTn>
                                        <p:tgtEl>
                                          <p:spTgt spid="61"/>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grpId="1" nodeType="clickEffect">
                                  <p:stCondLst>
                                    <p:cond delay="0"/>
                                  </p:stCondLst>
                                  <p:childTnLst>
                                    <p:animEffect transition="out" filter="fade">
                                      <p:cBhvr>
                                        <p:cTn id="75" dur="500"/>
                                        <p:tgtEl>
                                          <p:spTgt spid="4"/>
                                        </p:tgtEl>
                                      </p:cBhvr>
                                    </p:animEffect>
                                    <p:set>
                                      <p:cBhvr>
                                        <p:cTn id="76" dur="1" fill="hold">
                                          <p:stCondLst>
                                            <p:cond delay="499"/>
                                          </p:stCondLst>
                                        </p:cTn>
                                        <p:tgtEl>
                                          <p:spTgt spid="4"/>
                                        </p:tgtEl>
                                        <p:attrNameLst>
                                          <p:attrName>style.visibility</p:attrName>
                                        </p:attrNameLst>
                                      </p:cBhvr>
                                      <p:to>
                                        <p:strVal val="hidden"/>
                                      </p:to>
                                    </p:set>
                                  </p:childTnLst>
                                </p:cTn>
                              </p:par>
                              <p:par>
                                <p:cTn id="77" presetID="1" presetClass="entr" presetSubtype="0" fill="hold" grpId="0" nodeType="withEffect">
                                  <p:stCondLst>
                                    <p:cond delay="0"/>
                                  </p:stCondLst>
                                  <p:childTnLst>
                                    <p:set>
                                      <p:cBhvr>
                                        <p:cTn id="78" dur="1" fill="hold">
                                          <p:stCondLst>
                                            <p:cond delay="0"/>
                                          </p:stCondLst>
                                        </p:cTn>
                                        <p:tgtEl>
                                          <p:spTgt spid="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wipe(down)">
                                      <p:cBhvr>
                                        <p:cTn id="83" dur="500"/>
                                        <p:tgtEl>
                                          <p:spTgt spid="4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wipe(down)">
                                      <p:cBhvr>
                                        <p:cTn id="88" dur="500"/>
                                        <p:tgtEl>
                                          <p:spTgt spid="44"/>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wipe(left)">
                                      <p:cBhvr>
                                        <p:cTn id="93" dur="500"/>
                                        <p:tgtEl>
                                          <p:spTgt spid="45"/>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4"/>
                                        </p:tgtEl>
                                        <p:attrNameLst>
                                          <p:attrName>style.visibility</p:attrName>
                                        </p:attrNameLst>
                                      </p:cBhvr>
                                      <p:to>
                                        <p:strVal val="visible"/>
                                      </p:to>
                                    </p:set>
                                  </p:childTnLst>
                                </p:cTn>
                              </p:par>
                              <p:par>
                                <p:cTn id="98" presetID="22" presetClass="entr" presetSubtype="2" fill="hold" nodeType="withEffect">
                                  <p:stCondLst>
                                    <p:cond delay="0"/>
                                  </p:stCondLst>
                                  <p:childTnLst>
                                    <p:set>
                                      <p:cBhvr>
                                        <p:cTn id="99" dur="1" fill="hold">
                                          <p:stCondLst>
                                            <p:cond delay="0"/>
                                          </p:stCondLst>
                                        </p:cTn>
                                        <p:tgtEl>
                                          <p:spTgt spid="48"/>
                                        </p:tgtEl>
                                        <p:attrNameLst>
                                          <p:attrName>style.visibility</p:attrName>
                                        </p:attrNameLst>
                                      </p:cBhvr>
                                      <p:to>
                                        <p:strVal val="visible"/>
                                      </p:to>
                                    </p:set>
                                    <p:animEffect transition="in" filter="wipe(right)">
                                      <p:cBhvr>
                                        <p:cTn id="100" dur="500"/>
                                        <p:tgtEl>
                                          <p:spTgt spid="48"/>
                                        </p:tgtEl>
                                      </p:cBhvr>
                                    </p:animEffect>
                                  </p:childTnLst>
                                </p:cTn>
                              </p:par>
                              <p:par>
                                <p:cTn id="101" presetID="10" presetClass="entr" presetSubtype="0" fill="hold" nodeType="with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fade">
                                      <p:cBhvr>
                                        <p:cTn id="103" dur="500"/>
                                        <p:tgtEl>
                                          <p:spTgt spid="47"/>
                                        </p:tgtEl>
                                      </p:cBhvr>
                                    </p:animEffect>
                                  </p:childTnLst>
                                </p:cTn>
                              </p:par>
                            </p:childTnLst>
                          </p:cTn>
                        </p:par>
                        <p:par>
                          <p:cTn id="104" fill="hold">
                            <p:stCondLst>
                              <p:cond delay="500"/>
                            </p:stCondLst>
                            <p:childTnLst>
                              <p:par>
                                <p:cTn id="105" presetID="1" presetClass="entr" presetSubtype="0" fill="hold" grpId="0" nodeType="afterEffect">
                                  <p:stCondLst>
                                    <p:cond delay="0"/>
                                  </p:stCondLst>
                                  <p:childTnLst>
                                    <p:set>
                                      <p:cBhvr>
                                        <p:cTn id="106" dur="1" fill="hold">
                                          <p:stCondLst>
                                            <p:cond delay="0"/>
                                          </p:stCondLst>
                                        </p:cTn>
                                        <p:tgtEl>
                                          <p:spTgt spid="5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51"/>
                                        </p:tgtEl>
                                        <p:attrNameLst>
                                          <p:attrName>style.visibility</p:attrName>
                                        </p:attrNameLst>
                                      </p:cBhvr>
                                      <p:to>
                                        <p:strVal val="visible"/>
                                      </p:to>
                                    </p:set>
                                    <p:animEffect transition="in" filter="wipe(left)">
                                      <p:cBhvr>
                                        <p:cTn id="111" dur="500"/>
                                        <p:tgtEl>
                                          <p:spTgt spid="51"/>
                                        </p:tgtEl>
                                      </p:cBhvr>
                                    </p:animEffect>
                                  </p:childTnLst>
                                </p:cTn>
                              </p:par>
                              <p:par>
                                <p:cTn id="112" presetID="10" presetClass="entr" presetSubtype="0" fill="hold" nodeType="withEffect">
                                  <p:stCondLst>
                                    <p:cond delay="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1250"/>
                                        <p:tgtEl>
                                          <p:spTgt spid="25"/>
                                        </p:tgtEl>
                                      </p:cBhvr>
                                    </p:animEffect>
                                  </p:childTnLst>
                                </p:cTn>
                              </p:par>
                            </p:childTnLst>
                          </p:cTn>
                        </p:par>
                        <p:par>
                          <p:cTn id="115" fill="hold">
                            <p:stCondLst>
                              <p:cond delay="1250"/>
                            </p:stCondLst>
                            <p:childTnLst>
                              <p:par>
                                <p:cTn id="116" presetID="1" presetClass="entr" presetSubtype="0" fill="hold" grpId="0" nodeType="afterEffect">
                                  <p:stCondLst>
                                    <p:cond delay="0"/>
                                  </p:stCondLst>
                                  <p:childTnLst>
                                    <p:set>
                                      <p:cBhvr>
                                        <p:cTn id="117" dur="1" fill="hold">
                                          <p:stCondLst>
                                            <p:cond delay="0"/>
                                          </p:stCondLst>
                                        </p:cTn>
                                        <p:tgtEl>
                                          <p:spTgt spid="55"/>
                                        </p:tgtEl>
                                        <p:attrNameLst>
                                          <p:attrName>style.visibility</p:attrName>
                                        </p:attrNameLst>
                                      </p:cBhvr>
                                      <p:to>
                                        <p:strVal val="visible"/>
                                      </p:to>
                                    </p:set>
                                  </p:childTnLst>
                                </p:cTn>
                              </p:par>
                              <p:par>
                                <p:cTn id="118" presetID="10" presetClass="entr" presetSubtype="0" fill="hold" grpId="0" nodeType="with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500"/>
                                        <p:tgtEl>
                                          <p:spTgt spid="39"/>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40"/>
                                        </p:tgtEl>
                                        <p:attrNameLst>
                                          <p:attrName>style.visibility</p:attrName>
                                        </p:attrNameLst>
                                      </p:cBhvr>
                                      <p:to>
                                        <p:strVal val="visible"/>
                                      </p:to>
                                    </p:set>
                                    <p:animEffect transition="in" filter="wipe(left)">
                                      <p:cBhvr>
                                        <p:cTn id="125" dur="500"/>
                                        <p:tgtEl>
                                          <p:spTgt spid="40"/>
                                        </p:tgtEl>
                                      </p:cBhvr>
                                    </p:animEffect>
                                  </p:childTnLst>
                                </p:cTn>
                              </p:par>
                            </p:childTnLst>
                          </p:cTn>
                        </p:par>
                        <p:par>
                          <p:cTn id="126" fill="hold">
                            <p:stCondLst>
                              <p:cond delay="500"/>
                            </p:stCondLst>
                            <p:childTnLst>
                              <p:par>
                                <p:cTn id="127" presetID="22" presetClass="entr" presetSubtype="8" fill="hold" nodeType="afterEffect">
                                  <p:stCondLst>
                                    <p:cond delay="0"/>
                                  </p:stCondLst>
                                  <p:childTnLst>
                                    <p:set>
                                      <p:cBhvr>
                                        <p:cTn id="128" dur="1" fill="hold">
                                          <p:stCondLst>
                                            <p:cond delay="0"/>
                                          </p:stCondLst>
                                        </p:cTn>
                                        <p:tgtEl>
                                          <p:spTgt spid="26"/>
                                        </p:tgtEl>
                                        <p:attrNameLst>
                                          <p:attrName>style.visibility</p:attrName>
                                        </p:attrNameLst>
                                      </p:cBhvr>
                                      <p:to>
                                        <p:strVal val="visible"/>
                                      </p:to>
                                    </p:set>
                                    <p:animEffect transition="in" filter="wipe(left)">
                                      <p:cBhvr>
                                        <p:cTn id="129" dur="500"/>
                                        <p:tgtEl>
                                          <p:spTgt spid="26"/>
                                        </p:tgtEl>
                                      </p:cBhvr>
                                    </p:animEffect>
                                  </p:childTnLst>
                                </p:cTn>
                              </p:par>
                            </p:childTnLst>
                          </p:cTn>
                        </p:par>
                        <p:par>
                          <p:cTn id="130" fill="hold">
                            <p:stCondLst>
                              <p:cond delay="1000"/>
                            </p:stCondLst>
                            <p:childTnLst>
                              <p:par>
                                <p:cTn id="131" presetID="1" presetClass="entr" presetSubtype="0" fill="hold" grpId="0" nodeType="afterEffect">
                                  <p:stCondLst>
                                    <p:cond delay="0"/>
                                  </p:stCondLst>
                                  <p:childTnLst>
                                    <p:set>
                                      <p:cBhvr>
                                        <p:cTn id="132" dur="1" fill="hold">
                                          <p:stCondLst>
                                            <p:cond delay="0"/>
                                          </p:stCondLst>
                                        </p:cTn>
                                        <p:tgtEl>
                                          <p:spTgt spid="53"/>
                                        </p:tgtEl>
                                        <p:attrNameLst>
                                          <p:attrName>style.visibility</p:attrName>
                                        </p:attrNameLst>
                                      </p:cBhvr>
                                      <p:to>
                                        <p:strVal val="visible"/>
                                      </p:to>
                                    </p:set>
                                  </p:childTnLst>
                                </p:cTn>
                              </p:par>
                              <p:par>
                                <p:cTn id="133" presetID="10" presetClass="entr" presetSubtype="0" fill="hold" grpId="0" nodeType="withEffect">
                                  <p:stCondLst>
                                    <p:cond delay="0"/>
                                  </p:stCondLst>
                                  <p:childTnLst>
                                    <p:set>
                                      <p:cBhvr>
                                        <p:cTn id="134" dur="1" fill="hold">
                                          <p:stCondLst>
                                            <p:cond delay="0"/>
                                          </p:stCondLst>
                                        </p:cTn>
                                        <p:tgtEl>
                                          <p:spTgt spid="18"/>
                                        </p:tgtEl>
                                        <p:attrNameLst>
                                          <p:attrName>style.visibility</p:attrName>
                                        </p:attrNameLst>
                                      </p:cBhvr>
                                      <p:to>
                                        <p:strVal val="visible"/>
                                      </p:to>
                                    </p:set>
                                    <p:animEffect transition="in" filter="fade">
                                      <p:cBhvr>
                                        <p:cTn id="13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4" grpId="1"/>
      <p:bldP spid="14" grpId="0" animBg="1"/>
      <p:bldP spid="14" grpId="1" animBg="1"/>
      <p:bldP spid="7" grpId="0"/>
      <p:bldP spid="7" grpId="1"/>
      <p:bldP spid="3" grpId="0"/>
      <p:bldP spid="3" grpId="1"/>
      <p:bldP spid="2" grpId="0"/>
      <p:bldP spid="39" grpId="0"/>
      <p:bldP spid="18" grpId="0"/>
      <p:bldP spid="53" grpId="0"/>
      <p:bldP spid="55" grpId="0"/>
      <p:bldP spid="56" grpId="0"/>
      <p:bldP spid="57" grpId="0"/>
      <p:bldP spid="57"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E2E9"/>
        </a:solidFill>
        <a:effectLst/>
      </p:bgPr>
    </p:bg>
    <p:spTree>
      <p:nvGrpSpPr>
        <p:cNvPr id="1" name=""/>
        <p:cNvGrpSpPr/>
        <p:nvPr/>
      </p:nvGrpSpPr>
      <p:grpSpPr>
        <a:xfrm>
          <a:off x="0" y="0"/>
          <a:ext cx="0" cy="0"/>
          <a:chOff x="0" y="0"/>
          <a:chExt cx="0" cy="0"/>
        </a:xfrm>
      </p:grpSpPr>
      <p:sp>
        <p:nvSpPr>
          <p:cNvPr id="5" name="nativeLangBlack">
            <a:extLst>
              <a:ext uri="{FF2B5EF4-FFF2-40B4-BE49-F238E27FC236}">
                <a16:creationId xmlns:a16="http://schemas.microsoft.com/office/drawing/2014/main" id="{292A5589-3F24-F5BB-53B2-9960031B3BF2}"/>
              </a:ext>
            </a:extLst>
          </p:cNvPr>
          <p:cNvSpPr>
            <a:spLocks noGrp="1"/>
          </p:cNvSpPr>
          <p:nvPr/>
        </p:nvSpPr>
        <p:spPr>
          <a:xfrm>
            <a:off x="956233" y="2235200"/>
            <a:ext cx="10279529" cy="23876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200" b="1" i="1" dirty="0">
                <a:latin typeface="Franklin Gothic Demi" panose="020B0603020102020204" pitchFamily="34" charset="0"/>
              </a:rPr>
              <a:t>Do the </a:t>
            </a:r>
            <a:r>
              <a:rPr lang="en-US" sz="3200" b="1" i="1" dirty="0">
                <a:latin typeface="Franklin Gothic Heavy" panose="020B0603020102020204" pitchFamily="34" charset="0"/>
              </a:rPr>
              <a:t>CHARACTERISTICS</a:t>
            </a:r>
            <a:r>
              <a:rPr lang="en-US" sz="3200" b="1" i="1" dirty="0">
                <a:latin typeface="Franklin Gothic Demi" panose="020B0603020102020204" pitchFamily="34" charset="0"/>
              </a:rPr>
              <a:t> of an individual’s </a:t>
            </a:r>
            <a:r>
              <a:rPr lang="en-US" sz="3200" b="1" i="1" dirty="0">
                <a:latin typeface="Franklin Gothic Heavy" panose="020B0603020102020204" pitchFamily="34" charset="0"/>
              </a:rPr>
              <a:t>NATIVE</a:t>
            </a:r>
            <a:r>
              <a:rPr lang="en-US" sz="3200" b="1" i="1" dirty="0">
                <a:latin typeface="Franklin Gothic Demi" panose="020B0603020102020204" pitchFamily="34" charset="0"/>
              </a:rPr>
              <a:t> language affect brain </a:t>
            </a:r>
            <a:r>
              <a:rPr lang="en-US" sz="3200" b="1" i="1" dirty="0">
                <a:latin typeface="Franklin Gothic Heavy" panose="020B0603020102020204" pitchFamily="34" charset="0"/>
              </a:rPr>
              <a:t>STRUCTURE*?</a:t>
            </a:r>
            <a:r>
              <a:rPr lang="en-US" sz="3200" b="1" i="1" dirty="0">
                <a:latin typeface="Franklin Gothic Demi" panose="020B0603020102020204" pitchFamily="34" charset="0"/>
              </a:rPr>
              <a:t> </a:t>
            </a:r>
          </a:p>
          <a:p>
            <a:pPr>
              <a:lnSpc>
                <a:spcPct val="150000"/>
              </a:lnSpc>
            </a:pPr>
            <a:r>
              <a:rPr lang="en-US" sz="1800" dirty="0">
                <a:latin typeface="Franklin Gothic Medium Cond" panose="020B0606030402020204" pitchFamily="34" charset="0"/>
              </a:rPr>
              <a:t>*i.e., the white matter network of the language processing system</a:t>
            </a:r>
            <a:endParaRPr lang="en-US" sz="3200" dirty="0">
              <a:solidFill>
                <a:schemeClr val="bg2">
                  <a:lumMod val="90000"/>
                </a:schemeClr>
              </a:solidFill>
              <a:latin typeface="Franklin Gothic Medium Cond" panose="020B0606030402020204" pitchFamily="34" charset="0"/>
            </a:endParaRPr>
          </a:p>
        </p:txBody>
      </p:sp>
      <p:sp>
        <p:nvSpPr>
          <p:cNvPr id="10" name="TextBox 9">
            <a:extLst>
              <a:ext uri="{FF2B5EF4-FFF2-40B4-BE49-F238E27FC236}">
                <a16:creationId xmlns:a16="http://schemas.microsoft.com/office/drawing/2014/main" id="{2A60C3E1-B843-87DE-334F-C6AD74239094}"/>
              </a:ext>
            </a:extLst>
          </p:cNvPr>
          <p:cNvSpPr txBox="1"/>
          <p:nvPr/>
        </p:nvSpPr>
        <p:spPr>
          <a:xfrm>
            <a:off x="5076328" y="343561"/>
            <a:ext cx="1963921" cy="400110"/>
          </a:xfrm>
          <a:prstGeom prst="rect">
            <a:avLst/>
          </a:prstGeom>
          <a:noFill/>
        </p:spPr>
        <p:txBody>
          <a:bodyPr wrap="square" rtlCol="0" anchor="ctr">
            <a:spAutoFit/>
          </a:bodyPr>
          <a:lstStyle/>
          <a:p>
            <a:pPr algn="ctr"/>
            <a:r>
              <a:rPr lang="en-US" sz="2000" b="1" i="1" dirty="0">
                <a:latin typeface="Franklin Gothic Demi" panose="020B0603020102020204" pitchFamily="34" charset="0"/>
              </a:rPr>
              <a:t>dorsally-located</a:t>
            </a:r>
          </a:p>
        </p:txBody>
      </p:sp>
      <p:sp>
        <p:nvSpPr>
          <p:cNvPr id="13" name="TextBox 12">
            <a:extLst>
              <a:ext uri="{FF2B5EF4-FFF2-40B4-BE49-F238E27FC236}">
                <a16:creationId xmlns:a16="http://schemas.microsoft.com/office/drawing/2014/main" id="{97088E42-8F43-C1F2-9575-6D98F3170E5F}"/>
              </a:ext>
            </a:extLst>
          </p:cNvPr>
          <p:cNvSpPr txBox="1"/>
          <p:nvPr/>
        </p:nvSpPr>
        <p:spPr>
          <a:xfrm>
            <a:off x="5076328" y="6127691"/>
            <a:ext cx="2039337" cy="400110"/>
          </a:xfrm>
          <a:prstGeom prst="rect">
            <a:avLst/>
          </a:prstGeom>
          <a:noFill/>
        </p:spPr>
        <p:txBody>
          <a:bodyPr wrap="square" rtlCol="0" anchor="ctr">
            <a:spAutoFit/>
          </a:bodyPr>
          <a:lstStyle/>
          <a:p>
            <a:pPr algn="ctr"/>
            <a:r>
              <a:rPr lang="en-US" sz="2000" b="1" i="1">
                <a:latin typeface="Franklin Gothic Demi" panose="020B0603020102020204" pitchFamily="34" charset="0"/>
              </a:rPr>
              <a:t>ventrally-located</a:t>
            </a:r>
          </a:p>
        </p:txBody>
      </p:sp>
      <p:cxnSp>
        <p:nvCxnSpPr>
          <p:cNvPr id="24" name="Curved Connector 23">
            <a:extLst>
              <a:ext uri="{FF2B5EF4-FFF2-40B4-BE49-F238E27FC236}">
                <a16:creationId xmlns:a16="http://schemas.microsoft.com/office/drawing/2014/main" id="{EF24DABB-5C00-5EC3-E626-608CBFAFF85A}"/>
              </a:ext>
            </a:extLst>
          </p:cNvPr>
          <p:cNvCxnSpPr>
            <a:cxnSpLocks/>
            <a:endCxn id="13" idx="1"/>
          </p:cNvCxnSpPr>
          <p:nvPr/>
        </p:nvCxnSpPr>
        <p:spPr>
          <a:xfrm>
            <a:off x="0" y="3429000"/>
            <a:ext cx="5076328" cy="2898746"/>
          </a:xfrm>
          <a:prstGeom prst="curvedConnector3">
            <a:avLst>
              <a:gd name="adj1" fmla="val 1903"/>
            </a:avLst>
          </a:prstGeom>
          <a:ln w="12700">
            <a:solidFill>
              <a:schemeClr val="accent6"/>
            </a:solidFill>
            <a:tailEnd type="triangle"/>
          </a:ln>
        </p:spPr>
        <p:style>
          <a:lnRef idx="1">
            <a:schemeClr val="dk1"/>
          </a:lnRef>
          <a:fillRef idx="0">
            <a:schemeClr val="dk1"/>
          </a:fillRef>
          <a:effectRef idx="0">
            <a:schemeClr val="dk1"/>
          </a:effectRef>
          <a:fontRef idx="minor">
            <a:schemeClr val="tx1"/>
          </a:fontRef>
        </p:style>
      </p:cxnSp>
      <p:cxnSp>
        <p:nvCxnSpPr>
          <p:cNvPr id="29" name="Curved Connector 28">
            <a:extLst>
              <a:ext uri="{FF2B5EF4-FFF2-40B4-BE49-F238E27FC236}">
                <a16:creationId xmlns:a16="http://schemas.microsoft.com/office/drawing/2014/main" id="{E442E7D3-5E34-DBC0-87B5-79E918867A27}"/>
              </a:ext>
            </a:extLst>
          </p:cNvPr>
          <p:cNvCxnSpPr>
            <a:cxnSpLocks/>
          </p:cNvCxnSpPr>
          <p:nvPr/>
        </p:nvCxnSpPr>
        <p:spPr>
          <a:xfrm flipV="1">
            <a:off x="0" y="530254"/>
            <a:ext cx="5076328" cy="2898746"/>
          </a:xfrm>
          <a:prstGeom prst="curvedConnector3">
            <a:avLst>
              <a:gd name="adj1" fmla="val 1903"/>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pic>
        <p:nvPicPr>
          <p:cNvPr id="1026" name="Picture 2">
            <a:hlinkClick r:id="rId3"/>
            <a:extLst>
              <a:ext uri="{FF2B5EF4-FFF2-40B4-BE49-F238E27FC236}">
                <a16:creationId xmlns:a16="http://schemas.microsoft.com/office/drawing/2014/main" id="{6F396284-D7BF-73FD-E0E7-7F30930564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6057" y="1860566"/>
            <a:ext cx="4944924" cy="3136868"/>
          </a:xfrm>
          <a:prstGeom prst="roundRect">
            <a:avLst>
              <a:gd name="adj" fmla="val 8594"/>
            </a:avLst>
          </a:prstGeom>
          <a:solidFill>
            <a:srgbClr val="FFFFFF">
              <a:shade val="85000"/>
            </a:srgbClr>
          </a:solidFill>
          <a:ln>
            <a:noFill/>
          </a:ln>
          <a:effectLst/>
        </p:spPr>
      </p:pic>
      <p:pic>
        <p:nvPicPr>
          <p:cNvPr id="1028" name="Picture 4" descr="FIGURE 3.">
            <a:hlinkClick r:id="rId5"/>
            <a:extLst>
              <a:ext uri="{FF2B5EF4-FFF2-40B4-BE49-F238E27FC236}">
                <a16:creationId xmlns:a16="http://schemas.microsoft.com/office/drawing/2014/main" id="{0A317D59-7F4B-B1E8-1F24-7015FFB19A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17281" y="1860566"/>
            <a:ext cx="2948656" cy="3136868"/>
          </a:xfrm>
          <a:prstGeom prst="roundRect">
            <a:avLst>
              <a:gd name="adj" fmla="val 8594"/>
            </a:avLst>
          </a:prstGeom>
          <a:solidFill>
            <a:srgbClr val="FFFFFF">
              <a:shade val="85000"/>
            </a:srgbClr>
          </a:solidFill>
          <a:ln>
            <a:noFill/>
          </a:ln>
          <a:effectLst/>
        </p:spPr>
      </p:pic>
      <p:cxnSp>
        <p:nvCxnSpPr>
          <p:cNvPr id="8" name="Straight Arrow Connector 7">
            <a:extLst>
              <a:ext uri="{FF2B5EF4-FFF2-40B4-BE49-F238E27FC236}">
                <a16:creationId xmlns:a16="http://schemas.microsoft.com/office/drawing/2014/main" id="{8691D2EE-61CE-DBA8-0AD0-7568D6DC1C1D}"/>
              </a:ext>
            </a:extLst>
          </p:cNvPr>
          <p:cNvCxnSpPr>
            <a:stCxn id="10" idx="3"/>
          </p:cNvCxnSpPr>
          <p:nvPr/>
        </p:nvCxnSpPr>
        <p:spPr>
          <a:xfrm flipV="1">
            <a:off x="7040249" y="530254"/>
            <a:ext cx="5151751" cy="13362"/>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A518B7B5-4E0A-123D-C4E3-AD681EC6BD32}"/>
              </a:ext>
            </a:extLst>
          </p:cNvPr>
          <p:cNvCxnSpPr>
            <a:stCxn id="13" idx="3"/>
          </p:cNvCxnSpPr>
          <p:nvPr/>
        </p:nvCxnSpPr>
        <p:spPr>
          <a:xfrm>
            <a:off x="7115665" y="6327746"/>
            <a:ext cx="5076335" cy="0"/>
          </a:xfrm>
          <a:prstGeom prst="straightConnector1">
            <a:avLst/>
          </a:prstGeom>
          <a:ln w="12700">
            <a:solidFill>
              <a:schemeClr val="accent6"/>
            </a:solidFill>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69D58B46-7346-0909-834C-8AD04663BDF9}"/>
              </a:ext>
            </a:extLst>
          </p:cNvPr>
          <p:cNvSpPr txBox="1"/>
          <p:nvPr/>
        </p:nvSpPr>
        <p:spPr>
          <a:xfrm>
            <a:off x="5076327" y="648092"/>
            <a:ext cx="1963921" cy="307777"/>
          </a:xfrm>
          <a:prstGeom prst="rect">
            <a:avLst/>
          </a:prstGeom>
          <a:noFill/>
        </p:spPr>
        <p:txBody>
          <a:bodyPr wrap="square" rtlCol="0" anchor="ctr">
            <a:spAutoFit/>
          </a:bodyPr>
          <a:lstStyle/>
          <a:p>
            <a:pPr algn="ctr"/>
            <a:r>
              <a:rPr lang="en-US" sz="1400" b="1" i="1" dirty="0">
                <a:latin typeface="Franklin Gothic Demi" panose="020B0603020102020204" pitchFamily="34" charset="0"/>
              </a:rPr>
              <a:t>syntax</a:t>
            </a:r>
          </a:p>
        </p:txBody>
      </p:sp>
      <p:sp>
        <p:nvSpPr>
          <p:cNvPr id="14" name="TextBox 13">
            <a:extLst>
              <a:ext uri="{FF2B5EF4-FFF2-40B4-BE49-F238E27FC236}">
                <a16:creationId xmlns:a16="http://schemas.microsoft.com/office/drawing/2014/main" id="{3EB88B7D-6382-C160-A7EA-E0B2E42F17CF}"/>
              </a:ext>
            </a:extLst>
          </p:cNvPr>
          <p:cNvSpPr txBox="1"/>
          <p:nvPr/>
        </p:nvSpPr>
        <p:spPr>
          <a:xfrm>
            <a:off x="5076326" y="6447611"/>
            <a:ext cx="1963921" cy="307777"/>
          </a:xfrm>
          <a:prstGeom prst="rect">
            <a:avLst/>
          </a:prstGeom>
          <a:noFill/>
        </p:spPr>
        <p:txBody>
          <a:bodyPr wrap="square" rtlCol="0" anchor="ctr">
            <a:spAutoFit/>
          </a:bodyPr>
          <a:lstStyle/>
          <a:p>
            <a:pPr algn="ctr"/>
            <a:r>
              <a:rPr lang="en-US" sz="1400" b="1" i="1" dirty="0">
                <a:latin typeface="Franklin Gothic Demi" panose="020B0603020102020204" pitchFamily="34" charset="0"/>
              </a:rPr>
              <a:t>semantics &amp; lexical</a:t>
            </a:r>
          </a:p>
        </p:txBody>
      </p:sp>
      <p:sp>
        <p:nvSpPr>
          <p:cNvPr id="15" name="fig8-path2">
            <a:extLst>
              <a:ext uri="{FF2B5EF4-FFF2-40B4-BE49-F238E27FC236}">
                <a16:creationId xmlns:a16="http://schemas.microsoft.com/office/drawing/2014/main" id="{6C93B351-2C8C-5866-C691-BDB93DEDEC96}"/>
              </a:ext>
            </a:extLst>
          </p:cNvPr>
          <p:cNvSpPr txBox="1"/>
          <p:nvPr/>
        </p:nvSpPr>
        <p:spPr>
          <a:xfrm>
            <a:off x="8201543" y="4997434"/>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8. </a:t>
            </a:r>
            <a:r>
              <a:rPr lang="en-US" sz="400" dirty="0">
                <a:latin typeface="Franklin Gothic Medium" panose="020B0603020102020204" pitchFamily="34" charset="0"/>
              </a:rPr>
              <a:t>Second diagram of the dorsal and ventral pathways of language.</a:t>
            </a:r>
          </a:p>
          <a:p>
            <a:pPr algn="r"/>
            <a:r>
              <a:rPr lang="en-US" sz="400" dirty="0">
                <a:latin typeface="Franklin Gothic Medium" panose="020B0603020102020204" pitchFamily="34" charset="0"/>
              </a:rPr>
              <a:t>Note. Adapted from </a:t>
            </a:r>
            <a:r>
              <a:rPr lang="en-US" sz="400" dirty="0" err="1">
                <a:latin typeface="Franklin Gothic Medium" panose="020B0603020102020204" pitchFamily="34" charset="0"/>
              </a:rPr>
              <a:t>Friederici</a:t>
            </a:r>
            <a:r>
              <a:rPr lang="en-US" sz="400" dirty="0">
                <a:latin typeface="Franklin Gothic Medium" panose="020B0603020102020204" pitchFamily="34" charset="0"/>
              </a:rPr>
              <a:t> (2011)</a:t>
            </a:r>
            <a:endParaRPr lang="en-US" sz="400" i="1" dirty="0">
              <a:highlight>
                <a:srgbClr val="00FFFF"/>
              </a:highlight>
              <a:latin typeface="Franklin Gothic Medium" panose="020B0603020102020204" pitchFamily="34" charset="0"/>
            </a:endParaRPr>
          </a:p>
        </p:txBody>
      </p:sp>
      <p:sp>
        <p:nvSpPr>
          <p:cNvPr id="16" name="fig7-path1">
            <a:extLst>
              <a:ext uri="{FF2B5EF4-FFF2-40B4-BE49-F238E27FC236}">
                <a16:creationId xmlns:a16="http://schemas.microsoft.com/office/drawing/2014/main" id="{1393D696-2BFE-BDC6-7B69-BD065A1CBFA0}"/>
              </a:ext>
            </a:extLst>
          </p:cNvPr>
          <p:cNvSpPr txBox="1"/>
          <p:nvPr/>
        </p:nvSpPr>
        <p:spPr>
          <a:xfrm>
            <a:off x="3806587" y="4997434"/>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7. </a:t>
            </a:r>
            <a:r>
              <a:rPr lang="en-US" sz="400" dirty="0">
                <a:latin typeface="Franklin Gothic Medium" panose="020B0603020102020204" pitchFamily="34" charset="0"/>
              </a:rPr>
              <a:t>First diagram of the dorsal and ventral pathways of language.</a:t>
            </a:r>
          </a:p>
          <a:p>
            <a:pPr algn="r"/>
            <a:r>
              <a:rPr lang="en-US" sz="400" dirty="0">
                <a:latin typeface="Franklin Gothic Medium" panose="020B0603020102020204" pitchFamily="34" charset="0"/>
              </a:rPr>
              <a:t>Note. Adapted from López-Barroso and de Diego-Balaguer (2017)</a:t>
            </a:r>
            <a:endParaRPr lang="en-US" sz="400" i="1" dirty="0">
              <a:highlight>
                <a:srgbClr val="00FFFF"/>
              </a:highlight>
              <a:latin typeface="Franklin Gothic Medium" panose="020B0603020102020204" pitchFamily="34" charset="0"/>
            </a:endParaRPr>
          </a:p>
        </p:txBody>
      </p:sp>
      <p:sp>
        <p:nvSpPr>
          <p:cNvPr id="22" name="Footer Placeholder 18">
            <a:extLst>
              <a:ext uri="{FF2B5EF4-FFF2-40B4-BE49-F238E27FC236}">
                <a16:creationId xmlns:a16="http://schemas.microsoft.com/office/drawing/2014/main" id="{F0F8829F-90AE-02A3-6735-D4237A07AB00}"/>
              </a:ext>
            </a:extLst>
          </p:cNvPr>
          <p:cNvSpPr>
            <a:spLocks noGrp="1"/>
          </p:cNvSpPr>
          <p:nvPr>
            <p:ph type="ftr" sz="quarter" idx="11"/>
          </p:nvPr>
        </p:nvSpPr>
        <p:spPr>
          <a:xfrm>
            <a:off x="257672" y="12862"/>
            <a:ext cx="4114800" cy="365125"/>
          </a:xfrm>
        </p:spPr>
        <p:txBody>
          <a:bodyPr/>
          <a:lstStyle/>
          <a:p>
            <a:pPr algn="l"/>
            <a:r>
              <a:rPr lang="en-US" dirty="0"/>
              <a:t>Lara </a:t>
            </a:r>
            <a:r>
              <a:rPr lang="en-US" dirty="0" err="1"/>
              <a:t>Baldez</a:t>
            </a:r>
            <a:r>
              <a:rPr lang="en-US" dirty="0"/>
              <a:t> Duque Ribeiro</a:t>
            </a:r>
          </a:p>
        </p:txBody>
      </p:sp>
      <p:sp>
        <p:nvSpPr>
          <p:cNvPr id="23" name="Slide Number Placeholder 19">
            <a:extLst>
              <a:ext uri="{FF2B5EF4-FFF2-40B4-BE49-F238E27FC236}">
                <a16:creationId xmlns:a16="http://schemas.microsoft.com/office/drawing/2014/main" id="{B00DB577-8F50-C7EC-8199-08C6FB68AF85}"/>
              </a:ext>
            </a:extLst>
          </p:cNvPr>
          <p:cNvSpPr>
            <a:spLocks noGrp="1"/>
          </p:cNvSpPr>
          <p:nvPr>
            <p:ph type="sldNum" sz="quarter" idx="12"/>
          </p:nvPr>
        </p:nvSpPr>
        <p:spPr>
          <a:xfrm>
            <a:off x="9191128" y="12862"/>
            <a:ext cx="2743200" cy="365125"/>
          </a:xfrm>
        </p:spPr>
        <p:txBody>
          <a:bodyPr/>
          <a:lstStyle/>
          <a:p>
            <a:r>
              <a:rPr lang="en-US" dirty="0"/>
              <a:t>PSYC 216, May 2023 | </a:t>
            </a:r>
            <a:fld id="{2E7CF561-7B99-E44F-923B-79EAE0C9A6C5}" type="slidenum">
              <a:rPr lang="en-US" smtClean="0"/>
              <a:t>3</a:t>
            </a:fld>
            <a:endParaRPr lang="en-US" dirty="0"/>
          </a:p>
        </p:txBody>
      </p:sp>
    </p:spTree>
    <p:extLst>
      <p:ext uri="{BB962C8B-B14F-4D97-AF65-F5344CB8AC3E}">
        <p14:creationId xmlns:p14="http://schemas.microsoft.com/office/powerpoint/2010/main" val="355825578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2" fill="hold" nodeType="clickEffect">
                                  <p:stCondLst>
                                    <p:cond delay="0"/>
                                  </p:stCondLst>
                                  <p:childTnLst>
                                    <p:anim calcmode="lin" valueType="num">
                                      <p:cBhvr additive="base">
                                        <p:cTn id="6" dur="500"/>
                                        <p:tgtEl>
                                          <p:spTgt spid="1026"/>
                                        </p:tgtEl>
                                        <p:attrNameLst>
                                          <p:attrName>ppt_x</p:attrName>
                                        </p:attrNameLst>
                                      </p:cBhvr>
                                      <p:tavLst>
                                        <p:tav tm="0">
                                          <p:val>
                                            <p:strVal val="ppt_x"/>
                                          </p:val>
                                        </p:tav>
                                        <p:tav tm="100000">
                                          <p:val>
                                            <p:strVal val="1+ppt_w/2"/>
                                          </p:val>
                                        </p:tav>
                                      </p:tavLst>
                                    </p:anim>
                                    <p:anim calcmode="lin" valueType="num">
                                      <p:cBhvr additive="base">
                                        <p:cTn id="7" dur="500"/>
                                        <p:tgtEl>
                                          <p:spTgt spid="1026"/>
                                        </p:tgtEl>
                                        <p:attrNameLst>
                                          <p:attrName>ppt_y</p:attrName>
                                        </p:attrNameLst>
                                      </p:cBhvr>
                                      <p:tavLst>
                                        <p:tav tm="0">
                                          <p:val>
                                            <p:strVal val="ppt_y"/>
                                          </p:val>
                                        </p:tav>
                                        <p:tav tm="100000">
                                          <p:val>
                                            <p:strVal val="ppt_y"/>
                                          </p:val>
                                        </p:tav>
                                      </p:tavLst>
                                    </p:anim>
                                    <p:set>
                                      <p:cBhvr>
                                        <p:cTn id="8" dur="1" fill="hold">
                                          <p:stCondLst>
                                            <p:cond delay="499"/>
                                          </p:stCondLst>
                                        </p:cTn>
                                        <p:tgtEl>
                                          <p:spTgt spid="1026"/>
                                        </p:tgtEl>
                                        <p:attrNameLst>
                                          <p:attrName>style.visibility</p:attrName>
                                        </p:attrNameLst>
                                      </p:cBhvr>
                                      <p:to>
                                        <p:strVal val="hidden"/>
                                      </p:to>
                                    </p:set>
                                  </p:childTnLst>
                                </p:cTn>
                              </p:par>
                              <p:par>
                                <p:cTn id="9" presetID="2" presetClass="exit" presetSubtype="2" fill="hold" grpId="0" nodeType="withEffect">
                                  <p:stCondLst>
                                    <p:cond delay="0"/>
                                  </p:stCondLst>
                                  <p:childTnLst>
                                    <p:anim calcmode="lin" valueType="num">
                                      <p:cBhvr additive="base">
                                        <p:cTn id="10" dur="500"/>
                                        <p:tgtEl>
                                          <p:spTgt spid="16"/>
                                        </p:tgtEl>
                                        <p:attrNameLst>
                                          <p:attrName>ppt_x</p:attrName>
                                        </p:attrNameLst>
                                      </p:cBhvr>
                                      <p:tavLst>
                                        <p:tav tm="0">
                                          <p:val>
                                            <p:strVal val="ppt_x"/>
                                          </p:val>
                                        </p:tav>
                                        <p:tav tm="100000">
                                          <p:val>
                                            <p:strVal val="1+ppt_w/2"/>
                                          </p:val>
                                        </p:tav>
                                      </p:tavLst>
                                    </p:anim>
                                    <p:anim calcmode="lin" valueType="num">
                                      <p:cBhvr additive="base">
                                        <p:cTn id="11" dur="500"/>
                                        <p:tgtEl>
                                          <p:spTgt spid="16"/>
                                        </p:tgtEl>
                                        <p:attrNameLst>
                                          <p:attrName>ppt_y</p:attrName>
                                        </p:attrNameLst>
                                      </p:cBhvr>
                                      <p:tavLst>
                                        <p:tav tm="0">
                                          <p:val>
                                            <p:strVal val="ppt_y"/>
                                          </p:val>
                                        </p:tav>
                                        <p:tav tm="100000">
                                          <p:val>
                                            <p:strVal val="ppt_y"/>
                                          </p:val>
                                        </p:tav>
                                      </p:tavLst>
                                    </p:anim>
                                    <p:set>
                                      <p:cBhvr>
                                        <p:cTn id="12" dur="1" fill="hold">
                                          <p:stCondLst>
                                            <p:cond delay="499"/>
                                          </p:stCondLst>
                                        </p:cTn>
                                        <p:tgtEl>
                                          <p:spTgt spid="16"/>
                                        </p:tgtEl>
                                        <p:attrNameLst>
                                          <p:attrName>style.visibility</p:attrName>
                                        </p:attrNameLst>
                                      </p:cBhvr>
                                      <p:to>
                                        <p:strVal val="hidden"/>
                                      </p:to>
                                    </p:set>
                                  </p:childTnLst>
                                </p:cTn>
                              </p:par>
                              <p:par>
                                <p:cTn id="13" presetID="2" presetClass="exit" presetSubtype="2" fill="hold" nodeType="withEffect">
                                  <p:stCondLst>
                                    <p:cond delay="0"/>
                                  </p:stCondLst>
                                  <p:childTnLst>
                                    <p:anim calcmode="lin" valueType="num">
                                      <p:cBhvr additive="base">
                                        <p:cTn id="14" dur="500"/>
                                        <p:tgtEl>
                                          <p:spTgt spid="1028"/>
                                        </p:tgtEl>
                                        <p:attrNameLst>
                                          <p:attrName>ppt_x</p:attrName>
                                        </p:attrNameLst>
                                      </p:cBhvr>
                                      <p:tavLst>
                                        <p:tav tm="0">
                                          <p:val>
                                            <p:strVal val="ppt_x"/>
                                          </p:val>
                                        </p:tav>
                                        <p:tav tm="100000">
                                          <p:val>
                                            <p:strVal val="1+ppt_w/2"/>
                                          </p:val>
                                        </p:tav>
                                      </p:tavLst>
                                    </p:anim>
                                    <p:anim calcmode="lin" valueType="num">
                                      <p:cBhvr additive="base">
                                        <p:cTn id="15" dur="500"/>
                                        <p:tgtEl>
                                          <p:spTgt spid="1028"/>
                                        </p:tgtEl>
                                        <p:attrNameLst>
                                          <p:attrName>ppt_y</p:attrName>
                                        </p:attrNameLst>
                                      </p:cBhvr>
                                      <p:tavLst>
                                        <p:tav tm="0">
                                          <p:val>
                                            <p:strVal val="ppt_y"/>
                                          </p:val>
                                        </p:tav>
                                        <p:tav tm="100000">
                                          <p:val>
                                            <p:strVal val="ppt_y"/>
                                          </p:val>
                                        </p:tav>
                                      </p:tavLst>
                                    </p:anim>
                                    <p:set>
                                      <p:cBhvr>
                                        <p:cTn id="16" dur="1" fill="hold">
                                          <p:stCondLst>
                                            <p:cond delay="499"/>
                                          </p:stCondLst>
                                        </p:cTn>
                                        <p:tgtEl>
                                          <p:spTgt spid="1028"/>
                                        </p:tgtEl>
                                        <p:attrNameLst>
                                          <p:attrName>style.visibility</p:attrName>
                                        </p:attrNameLst>
                                      </p:cBhvr>
                                      <p:to>
                                        <p:strVal val="hidden"/>
                                      </p:to>
                                    </p:set>
                                  </p:childTnLst>
                                </p:cTn>
                              </p:par>
                              <p:par>
                                <p:cTn id="17" presetID="2" presetClass="exit" presetSubtype="2" fill="hold" grpId="0" nodeType="withEffect">
                                  <p:stCondLst>
                                    <p:cond delay="0"/>
                                  </p:stCondLst>
                                  <p:childTnLst>
                                    <p:anim calcmode="lin" valueType="num">
                                      <p:cBhvr additive="base">
                                        <p:cTn id="18" dur="500"/>
                                        <p:tgtEl>
                                          <p:spTgt spid="15"/>
                                        </p:tgtEl>
                                        <p:attrNameLst>
                                          <p:attrName>ppt_x</p:attrName>
                                        </p:attrNameLst>
                                      </p:cBhvr>
                                      <p:tavLst>
                                        <p:tav tm="0">
                                          <p:val>
                                            <p:strVal val="ppt_x"/>
                                          </p:val>
                                        </p:tav>
                                        <p:tav tm="100000">
                                          <p:val>
                                            <p:strVal val="1+ppt_w/2"/>
                                          </p:val>
                                        </p:tav>
                                      </p:tavLst>
                                    </p:anim>
                                    <p:anim calcmode="lin" valueType="num">
                                      <p:cBhvr additive="base">
                                        <p:cTn id="19" dur="500"/>
                                        <p:tgtEl>
                                          <p:spTgt spid="15"/>
                                        </p:tgtEl>
                                        <p:attrNameLst>
                                          <p:attrName>ppt_y</p:attrName>
                                        </p:attrNameLst>
                                      </p:cBhvr>
                                      <p:tavLst>
                                        <p:tav tm="0">
                                          <p:val>
                                            <p:strVal val="ppt_y"/>
                                          </p:val>
                                        </p:tav>
                                        <p:tav tm="100000">
                                          <p:val>
                                            <p:strVal val="ppt_y"/>
                                          </p:val>
                                        </p:tav>
                                      </p:tavLst>
                                    </p:anim>
                                    <p:set>
                                      <p:cBhvr>
                                        <p:cTn id="20" dur="1" fill="hold">
                                          <p:stCondLst>
                                            <p:cond delay="499"/>
                                          </p:stCondLst>
                                        </p:cTn>
                                        <p:tgtEl>
                                          <p:spTgt spid="15"/>
                                        </p:tgtEl>
                                        <p:attrNameLst>
                                          <p:attrName>style.visibility</p:attrName>
                                        </p:attrNameLst>
                                      </p:cBhvr>
                                      <p:to>
                                        <p:strVal val="hidden"/>
                                      </p:to>
                                    </p:set>
                                  </p:childTnLst>
                                </p:cTn>
                              </p:par>
                              <p:par>
                                <p:cTn id="21" presetID="10" presetClass="entr" presetSubtype="0" fill="hold" grpId="1"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7E2E9"/>
        </a:solidFill>
        <a:effectLst/>
      </p:bgPr>
    </p:bg>
    <p:spTree>
      <p:nvGrpSpPr>
        <p:cNvPr id="1" name=""/>
        <p:cNvGrpSpPr/>
        <p:nvPr/>
      </p:nvGrpSpPr>
      <p:grpSpPr>
        <a:xfrm>
          <a:off x="0" y="0"/>
          <a:ext cx="0" cy="0"/>
          <a:chOff x="0" y="0"/>
          <a:chExt cx="0" cy="0"/>
        </a:xfrm>
      </p:grpSpPr>
      <p:grpSp>
        <p:nvGrpSpPr>
          <p:cNvPr id="2" name="dorsal line">
            <a:extLst>
              <a:ext uri="{FF2B5EF4-FFF2-40B4-BE49-F238E27FC236}">
                <a16:creationId xmlns:a16="http://schemas.microsoft.com/office/drawing/2014/main" id="{3752F751-3968-8022-6344-0C57BFF4CC8A}"/>
              </a:ext>
            </a:extLst>
          </p:cNvPr>
          <p:cNvGrpSpPr/>
          <p:nvPr/>
        </p:nvGrpSpPr>
        <p:grpSpPr>
          <a:xfrm>
            <a:off x="-76183" y="343561"/>
            <a:ext cx="12268183" cy="400110"/>
            <a:chOff x="-76183" y="343561"/>
            <a:chExt cx="12268183" cy="400110"/>
          </a:xfrm>
        </p:grpSpPr>
        <p:sp>
          <p:nvSpPr>
            <p:cNvPr id="10" name="dorsally-located">
              <a:extLst>
                <a:ext uri="{FF2B5EF4-FFF2-40B4-BE49-F238E27FC236}">
                  <a16:creationId xmlns:a16="http://schemas.microsoft.com/office/drawing/2014/main" id="{2A60C3E1-B843-87DE-334F-C6AD74239094}"/>
                </a:ext>
              </a:extLst>
            </p:cNvPr>
            <p:cNvSpPr txBox="1"/>
            <p:nvPr/>
          </p:nvSpPr>
          <p:spPr>
            <a:xfrm>
              <a:off x="5076328" y="343561"/>
              <a:ext cx="1963921" cy="400110"/>
            </a:xfrm>
            <a:prstGeom prst="rect">
              <a:avLst/>
            </a:prstGeom>
            <a:noFill/>
          </p:spPr>
          <p:txBody>
            <a:bodyPr wrap="square" rtlCol="0" anchor="ctr">
              <a:spAutoFit/>
            </a:bodyPr>
            <a:lstStyle/>
            <a:p>
              <a:pPr algn="ctr"/>
              <a:r>
                <a:rPr lang="en-US" sz="2000" b="1" i="1" dirty="0">
                  <a:latin typeface="Franklin Gothic Demi" panose="020B0603020102020204" pitchFamily="34" charset="0"/>
                </a:rPr>
                <a:t>dorsally-located</a:t>
              </a:r>
            </a:p>
          </p:txBody>
        </p:sp>
        <p:cxnSp>
          <p:nvCxnSpPr>
            <p:cNvPr id="8" name="dorsal arrow right">
              <a:extLst>
                <a:ext uri="{FF2B5EF4-FFF2-40B4-BE49-F238E27FC236}">
                  <a16:creationId xmlns:a16="http://schemas.microsoft.com/office/drawing/2014/main" id="{8691D2EE-61CE-DBA8-0AD0-7568D6DC1C1D}"/>
                </a:ext>
              </a:extLst>
            </p:cNvPr>
            <p:cNvCxnSpPr>
              <a:stCxn id="10" idx="3"/>
            </p:cNvCxnSpPr>
            <p:nvPr/>
          </p:nvCxnSpPr>
          <p:spPr>
            <a:xfrm flipV="1">
              <a:off x="7040249" y="530254"/>
              <a:ext cx="5151751" cy="13362"/>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6" name="dorsal arrow left">
              <a:extLst>
                <a:ext uri="{FF2B5EF4-FFF2-40B4-BE49-F238E27FC236}">
                  <a16:creationId xmlns:a16="http://schemas.microsoft.com/office/drawing/2014/main" id="{CF88F0B1-3687-8CFB-758D-FFAD5824E8A7}"/>
                </a:ext>
              </a:extLst>
            </p:cNvPr>
            <p:cNvCxnSpPr/>
            <p:nvPr/>
          </p:nvCxnSpPr>
          <p:spPr>
            <a:xfrm flipV="1">
              <a:off x="-76183" y="524622"/>
              <a:ext cx="5151751" cy="13362"/>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grpSp>
      <p:grpSp>
        <p:nvGrpSpPr>
          <p:cNvPr id="3" name="ventral line">
            <a:extLst>
              <a:ext uri="{FF2B5EF4-FFF2-40B4-BE49-F238E27FC236}">
                <a16:creationId xmlns:a16="http://schemas.microsoft.com/office/drawing/2014/main" id="{1A2E3401-9DEF-A5D7-9D1B-49745EED7212}"/>
              </a:ext>
            </a:extLst>
          </p:cNvPr>
          <p:cNvGrpSpPr/>
          <p:nvPr/>
        </p:nvGrpSpPr>
        <p:grpSpPr>
          <a:xfrm>
            <a:off x="-767" y="6127691"/>
            <a:ext cx="12192767" cy="400110"/>
            <a:chOff x="-767" y="6127691"/>
            <a:chExt cx="12192767" cy="400110"/>
          </a:xfrm>
        </p:grpSpPr>
        <p:sp>
          <p:nvSpPr>
            <p:cNvPr id="13" name="ventrally-located">
              <a:extLst>
                <a:ext uri="{FF2B5EF4-FFF2-40B4-BE49-F238E27FC236}">
                  <a16:creationId xmlns:a16="http://schemas.microsoft.com/office/drawing/2014/main" id="{97088E42-8F43-C1F2-9575-6D98F3170E5F}"/>
                </a:ext>
              </a:extLst>
            </p:cNvPr>
            <p:cNvSpPr txBox="1"/>
            <p:nvPr/>
          </p:nvSpPr>
          <p:spPr>
            <a:xfrm>
              <a:off x="5076328" y="6127691"/>
              <a:ext cx="2039337" cy="400110"/>
            </a:xfrm>
            <a:prstGeom prst="rect">
              <a:avLst/>
            </a:prstGeom>
            <a:noFill/>
          </p:spPr>
          <p:txBody>
            <a:bodyPr wrap="square" rtlCol="0" anchor="ctr">
              <a:spAutoFit/>
            </a:bodyPr>
            <a:lstStyle/>
            <a:p>
              <a:pPr algn="ctr"/>
              <a:r>
                <a:rPr lang="en-US" sz="2000" b="1" i="1">
                  <a:latin typeface="Franklin Gothic Demi" panose="020B0603020102020204" pitchFamily="34" charset="0"/>
                </a:rPr>
                <a:t>ventrally-located</a:t>
              </a:r>
            </a:p>
          </p:txBody>
        </p:sp>
        <p:cxnSp>
          <p:nvCxnSpPr>
            <p:cNvPr id="11" name="ventral arrow right">
              <a:extLst>
                <a:ext uri="{FF2B5EF4-FFF2-40B4-BE49-F238E27FC236}">
                  <a16:creationId xmlns:a16="http://schemas.microsoft.com/office/drawing/2014/main" id="{A518B7B5-4E0A-123D-C4E3-AD681EC6BD32}"/>
                </a:ext>
              </a:extLst>
            </p:cNvPr>
            <p:cNvCxnSpPr>
              <a:stCxn id="13" idx="3"/>
            </p:cNvCxnSpPr>
            <p:nvPr/>
          </p:nvCxnSpPr>
          <p:spPr>
            <a:xfrm>
              <a:off x="7115665" y="6327746"/>
              <a:ext cx="5076335" cy="0"/>
            </a:xfrm>
            <a:prstGeom prst="straightConnector1">
              <a:avLst/>
            </a:prstGeom>
            <a:ln w="12700">
              <a:solidFill>
                <a:schemeClr val="accent6"/>
              </a:solidFill>
              <a:tailEnd type="triangle"/>
            </a:ln>
          </p:spPr>
          <p:style>
            <a:lnRef idx="1">
              <a:schemeClr val="dk1"/>
            </a:lnRef>
            <a:fillRef idx="0">
              <a:schemeClr val="dk1"/>
            </a:fillRef>
            <a:effectRef idx="0">
              <a:schemeClr val="dk1"/>
            </a:effectRef>
            <a:fontRef idx="minor">
              <a:schemeClr val="tx1"/>
            </a:fontRef>
          </p:style>
        </p:cxnSp>
        <p:cxnSp>
          <p:nvCxnSpPr>
            <p:cNvPr id="7" name="ventral arrow left">
              <a:extLst>
                <a:ext uri="{FF2B5EF4-FFF2-40B4-BE49-F238E27FC236}">
                  <a16:creationId xmlns:a16="http://schemas.microsoft.com/office/drawing/2014/main" id="{DABF875B-9C1B-9EF7-BFE9-013E325ABF8B}"/>
                </a:ext>
              </a:extLst>
            </p:cNvPr>
            <p:cNvCxnSpPr/>
            <p:nvPr/>
          </p:nvCxnSpPr>
          <p:spPr>
            <a:xfrm>
              <a:off x="-767" y="6322114"/>
              <a:ext cx="5076335" cy="0"/>
            </a:xfrm>
            <a:prstGeom prst="straightConnector1">
              <a:avLst/>
            </a:prstGeom>
            <a:ln w="12700">
              <a:solidFill>
                <a:schemeClr val="accent6"/>
              </a:solidFill>
              <a:tailEnd type="triangle"/>
            </a:ln>
          </p:spPr>
          <p:style>
            <a:lnRef idx="1">
              <a:schemeClr val="dk1"/>
            </a:lnRef>
            <a:fillRef idx="0">
              <a:schemeClr val="dk1"/>
            </a:fillRef>
            <a:effectRef idx="0">
              <a:schemeClr val="dk1"/>
            </a:effectRef>
            <a:fontRef idx="minor">
              <a:schemeClr val="tx1"/>
            </a:fontRef>
          </p:style>
        </p:cxnSp>
      </p:grpSp>
      <p:sp>
        <p:nvSpPr>
          <p:cNvPr id="9" name="dMRI">
            <a:extLst>
              <a:ext uri="{FF2B5EF4-FFF2-40B4-BE49-F238E27FC236}">
                <a16:creationId xmlns:a16="http://schemas.microsoft.com/office/drawing/2014/main" id="{5EC50A9F-364B-466C-1E05-EE99A14AA941}"/>
              </a:ext>
            </a:extLst>
          </p:cNvPr>
          <p:cNvSpPr txBox="1"/>
          <p:nvPr/>
        </p:nvSpPr>
        <p:spPr>
          <a:xfrm>
            <a:off x="1936058" y="1806459"/>
            <a:ext cx="3656357" cy="307777"/>
          </a:xfrm>
          <a:prstGeom prst="rect">
            <a:avLst/>
          </a:prstGeom>
          <a:noFill/>
        </p:spPr>
        <p:txBody>
          <a:bodyPr wrap="square" rtlCol="0" anchor="ctr">
            <a:spAutoFit/>
          </a:bodyPr>
          <a:lstStyle/>
          <a:p>
            <a:r>
              <a:rPr lang="en-US" sz="1400" i="1" dirty="0">
                <a:latin typeface="Franklin Gothic Medium" panose="020B0603020102020204" pitchFamily="34" charset="0"/>
              </a:rPr>
              <a:t>diffusion magnetic resonance imaging (</a:t>
            </a:r>
            <a:r>
              <a:rPr lang="en-US" sz="1400" i="1" dirty="0" err="1">
                <a:latin typeface="Franklin Gothic Medium" panose="020B0603020102020204" pitchFamily="34" charset="0"/>
              </a:rPr>
              <a:t>dMRI</a:t>
            </a:r>
            <a:r>
              <a:rPr lang="en-US" sz="1400" i="1" dirty="0">
                <a:latin typeface="Franklin Gothic Medium" panose="020B0603020102020204" pitchFamily="34" charset="0"/>
              </a:rPr>
              <a:t>)</a:t>
            </a:r>
          </a:p>
        </p:txBody>
      </p:sp>
      <p:pic>
        <p:nvPicPr>
          <p:cNvPr id="4098" name="dMRI image" descr="Details are in the caption following the image">
            <a:hlinkClick r:id="rId3"/>
            <a:extLst>
              <a:ext uri="{FF2B5EF4-FFF2-40B4-BE49-F238E27FC236}">
                <a16:creationId xmlns:a16="http://schemas.microsoft.com/office/drawing/2014/main" id="{6E083BC3-E1B3-B9DF-50FC-0A84547806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938" r="-1" b="48795"/>
          <a:stretch/>
        </p:blipFill>
        <p:spPr bwMode="auto">
          <a:xfrm>
            <a:off x="6099236" y="1063443"/>
            <a:ext cx="2246392" cy="1377404"/>
          </a:xfrm>
          <a:prstGeom prst="roundRect">
            <a:avLst>
              <a:gd name="adj" fmla="val 8594"/>
            </a:avLst>
          </a:prstGeom>
          <a:solidFill>
            <a:srgbClr val="FFFFFF">
              <a:shade val="85000"/>
            </a:srgbClr>
          </a:solidFill>
          <a:ln>
            <a:noFill/>
          </a:ln>
          <a:effectLst/>
        </p:spPr>
      </p:pic>
      <p:sp>
        <p:nvSpPr>
          <p:cNvPr id="15" name="tractography">
            <a:extLst>
              <a:ext uri="{FF2B5EF4-FFF2-40B4-BE49-F238E27FC236}">
                <a16:creationId xmlns:a16="http://schemas.microsoft.com/office/drawing/2014/main" id="{3035BA73-4415-31BD-BA8E-C85403ED8FBB}"/>
              </a:ext>
            </a:extLst>
          </p:cNvPr>
          <p:cNvSpPr txBox="1"/>
          <p:nvPr/>
        </p:nvSpPr>
        <p:spPr>
          <a:xfrm>
            <a:off x="4319475" y="2042992"/>
            <a:ext cx="1151696" cy="307777"/>
          </a:xfrm>
          <a:prstGeom prst="rect">
            <a:avLst/>
          </a:prstGeom>
          <a:noFill/>
        </p:spPr>
        <p:txBody>
          <a:bodyPr wrap="square" rtlCol="0" anchor="ctr">
            <a:spAutoFit/>
          </a:bodyPr>
          <a:lstStyle/>
          <a:p>
            <a:r>
              <a:rPr lang="en-US" sz="1400" i="1" dirty="0">
                <a:latin typeface="Franklin Gothic Medium" panose="020B0603020102020204" pitchFamily="34" charset="0"/>
              </a:rPr>
              <a:t>tractography</a:t>
            </a:r>
          </a:p>
        </p:txBody>
      </p:sp>
      <p:sp>
        <p:nvSpPr>
          <p:cNvPr id="16" name="NBS">
            <a:extLst>
              <a:ext uri="{FF2B5EF4-FFF2-40B4-BE49-F238E27FC236}">
                <a16:creationId xmlns:a16="http://schemas.microsoft.com/office/drawing/2014/main" id="{A495FBF5-780C-9AB4-8C45-295C1EA5A82F}"/>
              </a:ext>
            </a:extLst>
          </p:cNvPr>
          <p:cNvSpPr txBox="1"/>
          <p:nvPr/>
        </p:nvSpPr>
        <p:spPr>
          <a:xfrm>
            <a:off x="2914745" y="2286959"/>
            <a:ext cx="2556426" cy="307777"/>
          </a:xfrm>
          <a:prstGeom prst="rect">
            <a:avLst/>
          </a:prstGeom>
          <a:noFill/>
        </p:spPr>
        <p:txBody>
          <a:bodyPr wrap="square" rtlCol="0" anchor="ctr">
            <a:spAutoFit/>
          </a:bodyPr>
          <a:lstStyle/>
          <a:p>
            <a:r>
              <a:rPr lang="en-US" sz="1400" i="1" dirty="0">
                <a:latin typeface="Franklin Gothic Medium" panose="020B0603020102020204" pitchFamily="34" charset="0"/>
              </a:rPr>
              <a:t>Network Based Statistics (NBS)</a:t>
            </a:r>
          </a:p>
        </p:txBody>
      </p:sp>
      <p:pic>
        <p:nvPicPr>
          <p:cNvPr id="4100" name="wei NBS">
            <a:hlinkClick r:id="rId5"/>
            <a:extLst>
              <a:ext uri="{FF2B5EF4-FFF2-40B4-BE49-F238E27FC236}">
                <a16:creationId xmlns:a16="http://schemas.microsoft.com/office/drawing/2014/main" id="{61CCE096-02FA-D309-812F-32F270302A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85711" y="1036925"/>
            <a:ext cx="2497597" cy="1402947"/>
          </a:xfrm>
          <a:prstGeom prst="roundRect">
            <a:avLst>
              <a:gd name="adj" fmla="val 8594"/>
            </a:avLst>
          </a:prstGeom>
          <a:solidFill>
            <a:srgbClr val="FFFFFF">
              <a:shade val="85000"/>
            </a:srgbClr>
          </a:solidFill>
          <a:ln>
            <a:noFill/>
          </a:ln>
          <a:effectLst/>
        </p:spPr>
      </p:pic>
      <p:sp>
        <p:nvSpPr>
          <p:cNvPr id="19" name="GERMAN vs ARABIC">
            <a:extLst>
              <a:ext uri="{FF2B5EF4-FFF2-40B4-BE49-F238E27FC236}">
                <a16:creationId xmlns:a16="http://schemas.microsoft.com/office/drawing/2014/main" id="{F4CED3EE-70D0-998D-451F-74CEF910F1BE}"/>
              </a:ext>
            </a:extLst>
          </p:cNvPr>
          <p:cNvSpPr txBox="1"/>
          <p:nvPr/>
        </p:nvSpPr>
        <p:spPr>
          <a:xfrm>
            <a:off x="5802471" y="2683635"/>
            <a:ext cx="5076335" cy="707886"/>
          </a:xfrm>
          <a:prstGeom prst="rect">
            <a:avLst/>
          </a:prstGeom>
          <a:noFill/>
        </p:spPr>
        <p:txBody>
          <a:bodyPr wrap="square" rtlCol="0" anchor="ctr">
            <a:spAutoFit/>
          </a:bodyPr>
          <a:lstStyle/>
          <a:p>
            <a:pPr algn="ctr"/>
            <a:r>
              <a:rPr lang="en-US" sz="4000" b="1" i="1" dirty="0">
                <a:latin typeface="Franklin Gothic Demi" panose="020B0603020102020204" pitchFamily="34" charset="0"/>
              </a:rPr>
              <a:t>GERMAN vs. ARABIC</a:t>
            </a:r>
          </a:p>
        </p:txBody>
      </p:sp>
      <p:sp>
        <p:nvSpPr>
          <p:cNvPr id="23" name="94participants">
            <a:extLst>
              <a:ext uri="{FF2B5EF4-FFF2-40B4-BE49-F238E27FC236}">
                <a16:creationId xmlns:a16="http://schemas.microsoft.com/office/drawing/2014/main" id="{BC88CDA5-8709-22A9-8818-F4C29433A133}"/>
              </a:ext>
            </a:extLst>
          </p:cNvPr>
          <p:cNvSpPr/>
          <p:nvPr/>
        </p:nvSpPr>
        <p:spPr>
          <a:xfrm>
            <a:off x="2555928" y="3933523"/>
            <a:ext cx="717634" cy="717634"/>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latin typeface="Franklin Gothic Medium Cond" panose="020B0606030402020204" pitchFamily="34" charset="0"/>
              </a:rPr>
              <a:t>95</a:t>
            </a:r>
          </a:p>
        </p:txBody>
      </p:sp>
      <p:sp>
        <p:nvSpPr>
          <p:cNvPr id="26" name="matchedfor">
            <a:extLst>
              <a:ext uri="{FF2B5EF4-FFF2-40B4-BE49-F238E27FC236}">
                <a16:creationId xmlns:a16="http://schemas.microsoft.com/office/drawing/2014/main" id="{B6EACBF4-093F-5D1E-557A-DF12DA4C327E}"/>
              </a:ext>
            </a:extLst>
          </p:cNvPr>
          <p:cNvSpPr txBox="1"/>
          <p:nvPr/>
        </p:nvSpPr>
        <p:spPr>
          <a:xfrm>
            <a:off x="479110" y="3921614"/>
            <a:ext cx="3260035" cy="1754326"/>
          </a:xfrm>
          <a:prstGeom prst="rect">
            <a:avLst/>
          </a:prstGeom>
          <a:noFill/>
        </p:spPr>
        <p:txBody>
          <a:bodyPr wrap="square" rtlCol="0" anchor="ctr">
            <a:spAutoFit/>
          </a:bodyPr>
          <a:lstStyle/>
          <a:p>
            <a:pPr marL="285750" indent="-285750">
              <a:buFont typeface="Arial" panose="020B0604020202020204" pitchFamily="34" charset="0"/>
              <a:buChar char="•"/>
            </a:pPr>
            <a:r>
              <a:rPr lang="en-US" i="1" dirty="0">
                <a:latin typeface="Franklin Gothic Medium" panose="020B0603020102020204" pitchFamily="34" charset="0"/>
              </a:rPr>
              <a:t>age</a:t>
            </a:r>
          </a:p>
          <a:p>
            <a:pPr marL="285750" indent="-285750">
              <a:buFont typeface="Arial" panose="020B0604020202020204" pitchFamily="34" charset="0"/>
              <a:buChar char="•"/>
            </a:pPr>
            <a:r>
              <a:rPr lang="en-US" i="1" dirty="0">
                <a:latin typeface="Franklin Gothic Medium" panose="020B0603020102020204" pitchFamily="34" charset="0"/>
              </a:rPr>
              <a:t>health</a:t>
            </a:r>
          </a:p>
          <a:p>
            <a:pPr marL="285750" indent="-285750">
              <a:buFont typeface="Arial" panose="020B0604020202020204" pitchFamily="34" charset="0"/>
              <a:buChar char="•"/>
            </a:pPr>
            <a:r>
              <a:rPr lang="en-US" i="1" dirty="0">
                <a:latin typeface="Franklin Gothic Medium" panose="020B0603020102020204" pitchFamily="34" charset="0"/>
              </a:rPr>
              <a:t>gender</a:t>
            </a:r>
          </a:p>
          <a:p>
            <a:pPr marL="285750" indent="-285750">
              <a:buFont typeface="Arial" panose="020B0604020202020204" pitchFamily="34" charset="0"/>
              <a:buChar char="•"/>
            </a:pPr>
            <a:r>
              <a:rPr lang="en-US" i="1" dirty="0">
                <a:latin typeface="Franklin Gothic Medium" panose="020B0603020102020204" pitchFamily="34" charset="0"/>
              </a:rPr>
              <a:t>education</a:t>
            </a:r>
          </a:p>
          <a:p>
            <a:pPr marL="285750" indent="-285750">
              <a:buFont typeface="Arial" panose="020B0604020202020204" pitchFamily="34" charset="0"/>
              <a:buChar char="•"/>
            </a:pPr>
            <a:r>
              <a:rPr lang="en-US" i="1" dirty="0">
                <a:latin typeface="Franklin Gothic Medium" panose="020B0603020102020204" pitchFamily="34" charset="0"/>
              </a:rPr>
              <a:t>handedness (right)</a:t>
            </a:r>
          </a:p>
          <a:p>
            <a:pPr marL="285750" indent="-285750">
              <a:buFont typeface="Arial" panose="020B0604020202020204" pitchFamily="34" charset="0"/>
              <a:buChar char="•"/>
            </a:pPr>
            <a:r>
              <a:rPr lang="en-US" i="1" dirty="0">
                <a:latin typeface="Franklin Gothic Medium" panose="020B0603020102020204" pitchFamily="34" charset="0"/>
              </a:rPr>
              <a:t>only ONE native language</a:t>
            </a:r>
          </a:p>
        </p:txBody>
      </p:sp>
      <p:sp>
        <p:nvSpPr>
          <p:cNvPr id="27" name="quasi">
            <a:extLst>
              <a:ext uri="{FF2B5EF4-FFF2-40B4-BE49-F238E27FC236}">
                <a16:creationId xmlns:a16="http://schemas.microsoft.com/office/drawing/2014/main" id="{C9C57882-A234-3951-2B1E-D2BD5E44622D}"/>
              </a:ext>
            </a:extLst>
          </p:cNvPr>
          <p:cNvSpPr txBox="1"/>
          <p:nvPr/>
        </p:nvSpPr>
        <p:spPr>
          <a:xfrm>
            <a:off x="479110" y="908057"/>
            <a:ext cx="2688029" cy="861774"/>
          </a:xfrm>
          <a:prstGeom prst="rect">
            <a:avLst/>
          </a:prstGeom>
          <a:noFill/>
        </p:spPr>
        <p:txBody>
          <a:bodyPr wrap="square" rtlCol="0" anchor="ctr">
            <a:spAutoFit/>
          </a:bodyPr>
          <a:lstStyle/>
          <a:p>
            <a:r>
              <a:rPr lang="en-US" i="1" dirty="0">
                <a:latin typeface="Franklin Gothic Medium" panose="020B0603020102020204" pitchFamily="34" charset="0"/>
              </a:rPr>
              <a:t>QUASI-experimental</a:t>
            </a:r>
          </a:p>
          <a:p>
            <a:pPr marL="285750" indent="-285750">
              <a:buFont typeface="Arial" panose="020B0604020202020204" pitchFamily="34" charset="0"/>
              <a:buChar char="•"/>
            </a:pPr>
            <a:r>
              <a:rPr lang="en-US" sz="1600" dirty="0">
                <a:latin typeface="Franklin Gothic Medium Cond" panose="020B0606030402020204" pitchFamily="34" charset="0"/>
              </a:rPr>
              <a:t>IV: native language</a:t>
            </a:r>
          </a:p>
          <a:p>
            <a:pPr marL="285750" indent="-285750">
              <a:buFont typeface="Arial" panose="020B0604020202020204" pitchFamily="34" charset="0"/>
              <a:buChar char="•"/>
            </a:pPr>
            <a:r>
              <a:rPr lang="en-US" sz="1600" dirty="0">
                <a:latin typeface="Franklin Gothic Medium Cond" panose="020B0606030402020204" pitchFamily="34" charset="0"/>
              </a:rPr>
              <a:t>DV: structural connectivity</a:t>
            </a:r>
          </a:p>
        </p:txBody>
      </p:sp>
      <p:graphicFrame>
        <p:nvGraphicFramePr>
          <p:cNvPr id="20" name="Table 20">
            <a:extLst>
              <a:ext uri="{FF2B5EF4-FFF2-40B4-BE49-F238E27FC236}">
                <a16:creationId xmlns:a16="http://schemas.microsoft.com/office/drawing/2014/main" id="{0E7DAEC8-A919-BD00-6462-6DCBD6C52205}"/>
              </a:ext>
            </a:extLst>
          </p:cNvPr>
          <p:cNvGraphicFramePr>
            <a:graphicFrameLocks noGrp="1"/>
          </p:cNvGraphicFramePr>
          <p:nvPr>
            <p:extLst>
              <p:ext uri="{D42A27DB-BD31-4B8C-83A1-F6EECF244321}">
                <p14:modId xmlns:p14="http://schemas.microsoft.com/office/powerpoint/2010/main" val="695899203"/>
              </p:ext>
            </p:extLst>
          </p:nvPr>
        </p:nvGraphicFramePr>
        <p:xfrm>
          <a:off x="4598503" y="3504968"/>
          <a:ext cx="7381461" cy="2546712"/>
        </p:xfrm>
        <a:graphic>
          <a:graphicData uri="http://schemas.openxmlformats.org/drawingml/2006/table">
            <a:tbl>
              <a:tblPr firstRow="1" bandRow="1">
                <a:tableStyleId>{5940675A-B579-460E-94D1-54222C63F5DA}</a:tableStyleId>
              </a:tblPr>
              <a:tblGrid>
                <a:gridCol w="1981528">
                  <a:extLst>
                    <a:ext uri="{9D8B030D-6E8A-4147-A177-3AD203B41FA5}">
                      <a16:colId xmlns:a16="http://schemas.microsoft.com/office/drawing/2014/main" val="705854490"/>
                    </a:ext>
                  </a:extLst>
                </a:gridCol>
                <a:gridCol w="2335866">
                  <a:extLst>
                    <a:ext uri="{9D8B030D-6E8A-4147-A177-3AD203B41FA5}">
                      <a16:colId xmlns:a16="http://schemas.microsoft.com/office/drawing/2014/main" val="2115323661"/>
                    </a:ext>
                  </a:extLst>
                </a:gridCol>
                <a:gridCol w="3064067">
                  <a:extLst>
                    <a:ext uri="{9D8B030D-6E8A-4147-A177-3AD203B41FA5}">
                      <a16:colId xmlns:a16="http://schemas.microsoft.com/office/drawing/2014/main" val="567231994"/>
                    </a:ext>
                  </a:extLst>
                </a:gridCol>
              </a:tblGrid>
              <a:tr h="330744">
                <a:tc>
                  <a:txBody>
                    <a:bodyPr/>
                    <a:lstStyle/>
                    <a:p>
                      <a:pPr algn="ctr"/>
                      <a:r>
                        <a:rPr lang="en-US" sz="1400" b="1" i="0" dirty="0">
                          <a:latin typeface="Franklin Gothic Demi Cond" panose="020B0603020102020204" pitchFamily="34" charset="0"/>
                        </a:rPr>
                        <a:t>region</a:t>
                      </a:r>
                    </a:p>
                  </a:txBody>
                  <a:tcPr anchor="ctr">
                    <a:solidFill>
                      <a:schemeClr val="tx2">
                        <a:lumMod val="25000"/>
                        <a:lumOff val="75000"/>
                      </a:schemeClr>
                    </a:solidFill>
                  </a:tcPr>
                </a:tc>
                <a:tc>
                  <a:txBody>
                    <a:bodyPr/>
                    <a:lstStyle/>
                    <a:p>
                      <a:pPr algn="ctr"/>
                      <a:r>
                        <a:rPr lang="en-US" sz="1400" b="0" i="0" dirty="0">
                          <a:latin typeface="Franklin Gothic Medium Cond" panose="020B0606030402020204" pitchFamily="34" charset="0"/>
                        </a:rPr>
                        <a:t>Germany</a:t>
                      </a:r>
                    </a:p>
                  </a:txBody>
                  <a:tcPr anchor="ctr"/>
                </a:tc>
                <a:tc>
                  <a:txBody>
                    <a:bodyPr/>
                    <a:lstStyle/>
                    <a:p>
                      <a:pPr algn="ctr"/>
                      <a:r>
                        <a:rPr lang="en-US" sz="1400" b="0" i="0" dirty="0">
                          <a:latin typeface="Franklin Gothic Medium Cond" panose="020B0606030402020204" pitchFamily="34" charset="0"/>
                        </a:rPr>
                        <a:t>Levantine Arabic (migrants)</a:t>
                      </a:r>
                    </a:p>
                  </a:txBody>
                  <a:tcPr anchor="ctr"/>
                </a:tc>
                <a:extLst>
                  <a:ext uri="{0D108BD9-81ED-4DB2-BD59-A6C34878D82A}">
                    <a16:rowId xmlns:a16="http://schemas.microsoft.com/office/drawing/2014/main" val="1809615529"/>
                  </a:ext>
                </a:extLst>
              </a:tr>
              <a:tr h="330744">
                <a:tc>
                  <a:txBody>
                    <a:bodyPr/>
                    <a:lstStyle/>
                    <a:p>
                      <a:pPr algn="ctr"/>
                      <a:r>
                        <a:rPr lang="en-US" sz="1400" b="1" i="0" dirty="0">
                          <a:latin typeface="Franklin Gothic Demi Cond" panose="020B0603020102020204" pitchFamily="34" charset="0"/>
                        </a:rPr>
                        <a:t>language family</a:t>
                      </a:r>
                    </a:p>
                  </a:txBody>
                  <a:tcPr anchor="ctr">
                    <a:solidFill>
                      <a:schemeClr val="tx2">
                        <a:lumMod val="25000"/>
                        <a:lumOff val="75000"/>
                      </a:schemeClr>
                    </a:solidFill>
                  </a:tcPr>
                </a:tc>
                <a:tc>
                  <a:txBody>
                    <a:bodyPr/>
                    <a:lstStyle/>
                    <a:p>
                      <a:pPr algn="ctr"/>
                      <a:r>
                        <a:rPr lang="en-US" sz="1400" b="0" i="0" dirty="0">
                          <a:latin typeface="Franklin Gothic Medium Cond" panose="020B0606030402020204" pitchFamily="34" charset="0"/>
                        </a:rPr>
                        <a:t>Indo-European</a:t>
                      </a:r>
                    </a:p>
                  </a:txBody>
                  <a:tcPr anchor="ctr"/>
                </a:tc>
                <a:tc>
                  <a:txBody>
                    <a:bodyPr/>
                    <a:lstStyle/>
                    <a:p>
                      <a:pPr algn="ctr"/>
                      <a:r>
                        <a:rPr lang="en-US" sz="1400" b="0" i="0" dirty="0">
                          <a:latin typeface="Franklin Gothic Medium Cond" panose="020B0606030402020204" pitchFamily="34" charset="0"/>
                        </a:rPr>
                        <a:t>Semitic</a:t>
                      </a:r>
                    </a:p>
                  </a:txBody>
                  <a:tcPr anchor="ctr"/>
                </a:tc>
                <a:extLst>
                  <a:ext uri="{0D108BD9-81ED-4DB2-BD59-A6C34878D82A}">
                    <a16:rowId xmlns:a16="http://schemas.microsoft.com/office/drawing/2014/main" val="465789532"/>
                  </a:ext>
                </a:extLst>
              </a:tr>
              <a:tr h="500583">
                <a:tc>
                  <a:txBody>
                    <a:bodyPr/>
                    <a:lstStyle/>
                    <a:p>
                      <a:pPr algn="ctr"/>
                      <a:r>
                        <a:rPr lang="en-US" sz="1400" b="1" i="0" dirty="0">
                          <a:latin typeface="Franklin Gothic Demi Cond" panose="020B0603020102020204" pitchFamily="34" charset="0"/>
                        </a:rPr>
                        <a:t>complexity</a:t>
                      </a:r>
                    </a:p>
                  </a:txBody>
                  <a:tcPr anchor="ctr">
                    <a:solidFill>
                      <a:schemeClr val="tx2">
                        <a:lumMod val="25000"/>
                        <a:lumOff val="75000"/>
                      </a:schemeClr>
                    </a:solidFill>
                  </a:tcPr>
                </a:tc>
                <a:tc>
                  <a:txBody>
                    <a:bodyPr/>
                    <a:lstStyle/>
                    <a:p>
                      <a:pPr algn="ctr"/>
                      <a:r>
                        <a:rPr lang="en-US" sz="1400" b="0" i="0" dirty="0" err="1">
                          <a:latin typeface="Franklin Gothic Medium Cond" panose="020B0606030402020204" pitchFamily="34" charset="0"/>
                        </a:rPr>
                        <a:t>morphosyntactically</a:t>
                      </a:r>
                      <a:endParaRPr lang="en-US" sz="1400" b="0" i="0" dirty="0">
                        <a:latin typeface="Franklin Gothic Medium Cond" panose="020B0606030402020204" pitchFamily="34" charset="0"/>
                      </a:endParaRPr>
                    </a:p>
                    <a:p>
                      <a:pPr algn="ctr"/>
                      <a:r>
                        <a:rPr lang="en-US" sz="1400" b="0" i="0" dirty="0">
                          <a:latin typeface="Franklin Gothic Medium Cond" panose="020B0606030402020204" pitchFamily="34" charset="0"/>
                        </a:rPr>
                        <a:t>(flexible word order)</a:t>
                      </a:r>
                    </a:p>
                  </a:txBody>
                  <a:tcPr anchor="ctr"/>
                </a:tc>
                <a:tc>
                  <a:txBody>
                    <a:bodyPr/>
                    <a:lstStyle/>
                    <a:p>
                      <a:pPr algn="ctr"/>
                      <a:r>
                        <a:rPr lang="en-US" sz="1400" b="0" i="0" dirty="0">
                          <a:latin typeface="Franklin Gothic Medium Cond" panose="020B0606030402020204" pitchFamily="34" charset="0"/>
                        </a:rPr>
                        <a:t>morphologically</a:t>
                      </a:r>
                    </a:p>
                    <a:p>
                      <a:pPr algn="ctr"/>
                      <a:r>
                        <a:rPr lang="en-US" sz="1400" b="0" i="0" dirty="0">
                          <a:latin typeface="Franklin Gothic Medium Cond" panose="020B0606030402020204" pitchFamily="34" charset="0"/>
                        </a:rPr>
                        <a:t>(pairing of bound morphemes)</a:t>
                      </a:r>
                    </a:p>
                  </a:txBody>
                  <a:tcPr anchor="ctr"/>
                </a:tc>
                <a:extLst>
                  <a:ext uri="{0D108BD9-81ED-4DB2-BD59-A6C34878D82A}">
                    <a16:rowId xmlns:a16="http://schemas.microsoft.com/office/drawing/2014/main" val="2973415171"/>
                  </a:ext>
                </a:extLst>
              </a:tr>
              <a:tr h="500583">
                <a:tc>
                  <a:txBody>
                    <a:bodyPr/>
                    <a:lstStyle/>
                    <a:p>
                      <a:pPr algn="ctr"/>
                      <a:r>
                        <a:rPr lang="en-US" sz="1400" b="1" i="0" dirty="0">
                          <a:latin typeface="Franklin Gothic Demi Cond" panose="020B0603020102020204" pitchFamily="34" charset="0"/>
                        </a:rPr>
                        <a:t>linear morphological structure?</a:t>
                      </a:r>
                    </a:p>
                  </a:txBody>
                  <a:tcPr anchor="ctr">
                    <a:solidFill>
                      <a:schemeClr val="tx2">
                        <a:lumMod val="25000"/>
                        <a:lumOff val="75000"/>
                      </a:schemeClr>
                    </a:solidFill>
                  </a:tcPr>
                </a:tc>
                <a:tc>
                  <a:txBody>
                    <a:bodyPr/>
                    <a:lstStyle/>
                    <a:p>
                      <a:pPr algn="ctr"/>
                      <a:r>
                        <a:rPr lang="en-US" sz="1400" b="0" i="0" dirty="0">
                          <a:latin typeface="Franklin Gothic Medium Cond" panose="020B0606030402020204" pitchFamily="34" charset="0"/>
                        </a:rPr>
                        <a:t>Yes (linear)</a:t>
                      </a:r>
                    </a:p>
                  </a:txBody>
                  <a:tcPr anchor="ctr"/>
                </a:tc>
                <a:tc>
                  <a:txBody>
                    <a:bodyPr/>
                    <a:lstStyle/>
                    <a:p>
                      <a:pPr algn="ctr"/>
                      <a:r>
                        <a:rPr lang="en-US" sz="1400" b="0" i="0" dirty="0">
                          <a:latin typeface="Franklin Gothic Medium Cond" panose="020B0606030402020204" pitchFamily="34" charset="0"/>
                        </a:rPr>
                        <a:t>No (NON-linear)</a:t>
                      </a:r>
                    </a:p>
                  </a:txBody>
                  <a:tcPr anchor="ctr"/>
                </a:tc>
                <a:extLst>
                  <a:ext uri="{0D108BD9-81ED-4DB2-BD59-A6C34878D82A}">
                    <a16:rowId xmlns:a16="http://schemas.microsoft.com/office/drawing/2014/main" val="609627560"/>
                  </a:ext>
                </a:extLst>
              </a:tr>
              <a:tr h="500583">
                <a:tc>
                  <a:txBody>
                    <a:bodyPr/>
                    <a:lstStyle/>
                    <a:p>
                      <a:pPr algn="ctr"/>
                      <a:r>
                        <a:rPr lang="en-US" sz="1400" b="1" i="0" dirty="0">
                          <a:latin typeface="Franklin Gothic Demi Cond" panose="020B0603020102020204" pitchFamily="34" charset="0"/>
                        </a:rPr>
                        <a:t>orthographical directionality</a:t>
                      </a:r>
                    </a:p>
                  </a:txBody>
                  <a:tcPr anchor="ctr">
                    <a:solidFill>
                      <a:schemeClr val="tx2">
                        <a:lumMod val="25000"/>
                        <a:lumOff val="75000"/>
                      </a:schemeClr>
                    </a:solidFill>
                  </a:tcPr>
                </a:tc>
                <a:tc>
                  <a:txBody>
                    <a:bodyPr/>
                    <a:lstStyle/>
                    <a:p>
                      <a:pPr algn="ctr"/>
                      <a:r>
                        <a:rPr lang="en-US" sz="1400" b="0" i="0" dirty="0">
                          <a:latin typeface="Franklin Gothic Medium Cond" panose="020B0606030402020204" pitchFamily="34" charset="0"/>
                        </a:rPr>
                        <a:t>L </a:t>
                      </a:r>
                      <a:r>
                        <a:rPr lang="en-US" sz="1400" b="0" i="0" dirty="0">
                          <a:latin typeface="Franklin Gothic Medium Cond" panose="020B0606030402020204" pitchFamily="34" charset="0"/>
                          <a:sym typeface="Wingdings" pitchFamily="2" charset="2"/>
                        </a:rPr>
                        <a:t> R</a:t>
                      </a:r>
                      <a:endParaRPr lang="en-US" sz="1400" b="0" i="0" dirty="0">
                        <a:latin typeface="Franklin Gothic Medium Cond" panose="020B0606030402020204" pitchFamily="34" charset="0"/>
                      </a:endParaRPr>
                    </a:p>
                  </a:txBody>
                  <a:tcPr anchor="ctr"/>
                </a:tc>
                <a:tc>
                  <a:txBody>
                    <a:bodyPr/>
                    <a:lstStyle/>
                    <a:p>
                      <a:pPr algn="ctr"/>
                      <a:r>
                        <a:rPr lang="en-US" sz="1400" b="0" i="0" dirty="0">
                          <a:latin typeface="Franklin Gothic Medium Cond" panose="020B0606030402020204" pitchFamily="34" charset="0"/>
                        </a:rPr>
                        <a:t>R </a:t>
                      </a:r>
                      <a:r>
                        <a:rPr lang="en-US" sz="1400" b="0" i="0" dirty="0">
                          <a:latin typeface="Franklin Gothic Medium Cond" panose="020B0606030402020204" pitchFamily="34" charset="0"/>
                          <a:sym typeface="Wingdings" pitchFamily="2" charset="2"/>
                        </a:rPr>
                        <a:t> L</a:t>
                      </a:r>
                      <a:endParaRPr lang="en-US" sz="1400" b="0" i="0" dirty="0">
                        <a:latin typeface="Franklin Gothic Medium Cond" panose="020B0606030402020204" pitchFamily="34" charset="0"/>
                      </a:endParaRPr>
                    </a:p>
                  </a:txBody>
                  <a:tcPr anchor="ctr"/>
                </a:tc>
                <a:extLst>
                  <a:ext uri="{0D108BD9-81ED-4DB2-BD59-A6C34878D82A}">
                    <a16:rowId xmlns:a16="http://schemas.microsoft.com/office/drawing/2014/main" val="2351999113"/>
                  </a:ext>
                </a:extLst>
              </a:tr>
              <a:tr h="330744">
                <a:tc>
                  <a:txBody>
                    <a:bodyPr/>
                    <a:lstStyle/>
                    <a:p>
                      <a:pPr algn="ctr"/>
                      <a:r>
                        <a:rPr lang="en-US" sz="1400" b="1" i="0" dirty="0">
                          <a:latin typeface="Franklin Gothic Demi Cond" panose="020B0603020102020204" pitchFamily="34" charset="0"/>
                        </a:rPr>
                        <a:t>additional</a:t>
                      </a:r>
                    </a:p>
                  </a:txBody>
                  <a:tcPr anchor="ctr">
                    <a:solidFill>
                      <a:schemeClr val="tx2">
                        <a:lumMod val="25000"/>
                        <a:lumOff val="75000"/>
                      </a:schemeClr>
                    </a:solidFill>
                  </a:tcPr>
                </a:tc>
                <a:tc>
                  <a:txBody>
                    <a:bodyPr/>
                    <a:lstStyle/>
                    <a:p>
                      <a:pPr algn="ctr"/>
                      <a:r>
                        <a:rPr lang="en-US" sz="1400" b="0" i="0" dirty="0">
                          <a:latin typeface="Franklin Gothic Medium Cond" panose="020B0606030402020204" pitchFamily="34" charset="0"/>
                        </a:rPr>
                        <a:t>-</a:t>
                      </a:r>
                    </a:p>
                  </a:txBody>
                  <a:tcPr anchor="ctr"/>
                </a:tc>
                <a:tc>
                  <a:txBody>
                    <a:bodyPr/>
                    <a:lstStyle/>
                    <a:p>
                      <a:pPr algn="ctr"/>
                      <a:r>
                        <a:rPr lang="en-US" sz="1400" b="0" i="0" dirty="0">
                          <a:latin typeface="Franklin Gothic Medium Cond" panose="020B0606030402020204" pitchFamily="34" charset="0"/>
                        </a:rPr>
                        <a:t>short vowels are omitted in writing</a:t>
                      </a:r>
                    </a:p>
                  </a:txBody>
                  <a:tcPr anchor="ctr"/>
                </a:tc>
                <a:extLst>
                  <a:ext uri="{0D108BD9-81ED-4DB2-BD59-A6C34878D82A}">
                    <a16:rowId xmlns:a16="http://schemas.microsoft.com/office/drawing/2014/main" val="1628047847"/>
                  </a:ext>
                </a:extLst>
              </a:tr>
            </a:tbl>
          </a:graphicData>
        </a:graphic>
      </p:graphicFrame>
      <p:sp>
        <p:nvSpPr>
          <p:cNvPr id="21" name="citeimage">
            <a:extLst>
              <a:ext uri="{FF2B5EF4-FFF2-40B4-BE49-F238E27FC236}">
                <a16:creationId xmlns:a16="http://schemas.microsoft.com/office/drawing/2014/main" id="{B56239E0-B18B-0D8A-B80F-F40E0E15A87E}"/>
              </a:ext>
            </a:extLst>
          </p:cNvPr>
          <p:cNvSpPr txBox="1"/>
          <p:nvPr/>
        </p:nvSpPr>
        <p:spPr>
          <a:xfrm>
            <a:off x="5879697" y="2425458"/>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9. </a:t>
            </a:r>
            <a:r>
              <a:rPr lang="en-US" sz="400" dirty="0">
                <a:latin typeface="Franklin Gothic Medium" panose="020B0603020102020204" pitchFamily="34" charset="0"/>
              </a:rPr>
              <a:t>Example of applicability of </a:t>
            </a:r>
            <a:r>
              <a:rPr lang="en-US" sz="400" dirty="0" err="1">
                <a:latin typeface="Franklin Gothic Medium" panose="020B0603020102020204" pitchFamily="34" charset="0"/>
              </a:rPr>
              <a:t>dMRI</a:t>
            </a:r>
            <a:r>
              <a:rPr lang="en-US" sz="400" dirty="0">
                <a:latin typeface="Franklin Gothic Medium" panose="020B0603020102020204" pitchFamily="34" charset="0"/>
              </a:rPr>
              <a:t>.</a:t>
            </a:r>
          </a:p>
          <a:p>
            <a:pPr algn="r"/>
            <a:r>
              <a:rPr lang="en-US" sz="400" dirty="0">
                <a:latin typeface="Franklin Gothic Medium" panose="020B0603020102020204" pitchFamily="34" charset="0"/>
              </a:rPr>
              <a:t>Note. Adapted from Le </a:t>
            </a:r>
            <a:r>
              <a:rPr lang="en-US" sz="400" dirty="0" err="1">
                <a:latin typeface="Franklin Gothic Medium" panose="020B0603020102020204" pitchFamily="34" charset="0"/>
              </a:rPr>
              <a:t>Bihan</a:t>
            </a:r>
            <a:r>
              <a:rPr lang="en-US" sz="400" dirty="0">
                <a:latin typeface="Franklin Gothic Medium" panose="020B0603020102020204" pitchFamily="34" charset="0"/>
              </a:rPr>
              <a:t> (2014)</a:t>
            </a:r>
            <a:endParaRPr lang="en-US" sz="400" i="1" dirty="0">
              <a:highlight>
                <a:srgbClr val="00FFFF"/>
              </a:highlight>
              <a:latin typeface="Franklin Gothic Medium" panose="020B0603020102020204" pitchFamily="34" charset="0"/>
            </a:endParaRPr>
          </a:p>
        </p:txBody>
      </p:sp>
      <p:sp>
        <p:nvSpPr>
          <p:cNvPr id="22" name="citeimage">
            <a:extLst>
              <a:ext uri="{FF2B5EF4-FFF2-40B4-BE49-F238E27FC236}">
                <a16:creationId xmlns:a16="http://schemas.microsoft.com/office/drawing/2014/main" id="{4BDB92A5-D99B-836A-CCCE-0482AD260B74}"/>
              </a:ext>
            </a:extLst>
          </p:cNvPr>
          <p:cNvSpPr txBox="1"/>
          <p:nvPr/>
        </p:nvSpPr>
        <p:spPr>
          <a:xfrm>
            <a:off x="9085711" y="2419576"/>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10. </a:t>
            </a:r>
            <a:r>
              <a:rPr lang="en-US" sz="400" dirty="0">
                <a:latin typeface="Franklin Gothic Medium" panose="020B0603020102020204" pitchFamily="34" charset="0"/>
              </a:rPr>
              <a:t>Example of NBS.</a:t>
            </a:r>
          </a:p>
          <a:p>
            <a:pPr algn="r"/>
            <a:r>
              <a:rPr lang="en-US" sz="400" dirty="0">
                <a:latin typeface="Franklin Gothic Medium" panose="020B0603020102020204" pitchFamily="34" charset="0"/>
              </a:rPr>
              <a:t>Note. Adapted from Wei et al. (2023)</a:t>
            </a:r>
            <a:endParaRPr lang="en-US" sz="400" i="1" dirty="0">
              <a:highlight>
                <a:srgbClr val="00FFFF"/>
              </a:highlight>
              <a:latin typeface="Franklin Gothic Medium" panose="020B0603020102020204" pitchFamily="34" charset="0"/>
            </a:endParaRPr>
          </a:p>
        </p:txBody>
      </p:sp>
      <p:sp>
        <p:nvSpPr>
          <p:cNvPr id="28" name="Footer Placeholder 18">
            <a:extLst>
              <a:ext uri="{FF2B5EF4-FFF2-40B4-BE49-F238E27FC236}">
                <a16:creationId xmlns:a16="http://schemas.microsoft.com/office/drawing/2014/main" id="{88B4E229-4E9B-2025-8AC8-E1269904E964}"/>
              </a:ext>
            </a:extLst>
          </p:cNvPr>
          <p:cNvSpPr>
            <a:spLocks noGrp="1"/>
          </p:cNvSpPr>
          <p:nvPr>
            <p:ph type="ftr" sz="quarter" idx="11"/>
          </p:nvPr>
        </p:nvSpPr>
        <p:spPr>
          <a:xfrm>
            <a:off x="257672" y="12862"/>
            <a:ext cx="4114800" cy="365125"/>
          </a:xfrm>
        </p:spPr>
        <p:txBody>
          <a:bodyPr/>
          <a:lstStyle/>
          <a:p>
            <a:pPr algn="l"/>
            <a:r>
              <a:rPr lang="en-US" dirty="0"/>
              <a:t>Lara </a:t>
            </a:r>
            <a:r>
              <a:rPr lang="en-US" dirty="0" err="1"/>
              <a:t>Baldez</a:t>
            </a:r>
            <a:r>
              <a:rPr lang="en-US" dirty="0"/>
              <a:t> Duque Ribeiro</a:t>
            </a:r>
          </a:p>
        </p:txBody>
      </p:sp>
      <p:sp>
        <p:nvSpPr>
          <p:cNvPr id="29" name="Slide Number Placeholder 19">
            <a:extLst>
              <a:ext uri="{FF2B5EF4-FFF2-40B4-BE49-F238E27FC236}">
                <a16:creationId xmlns:a16="http://schemas.microsoft.com/office/drawing/2014/main" id="{2C02D571-8F03-F00F-A7A4-045BBABE9118}"/>
              </a:ext>
            </a:extLst>
          </p:cNvPr>
          <p:cNvSpPr>
            <a:spLocks noGrp="1"/>
          </p:cNvSpPr>
          <p:nvPr>
            <p:ph type="sldNum" sz="quarter" idx="12"/>
          </p:nvPr>
        </p:nvSpPr>
        <p:spPr>
          <a:xfrm>
            <a:off x="9191128" y="12862"/>
            <a:ext cx="2743200" cy="365125"/>
          </a:xfrm>
        </p:spPr>
        <p:txBody>
          <a:bodyPr/>
          <a:lstStyle/>
          <a:p>
            <a:r>
              <a:rPr lang="en-US" dirty="0"/>
              <a:t>PSYC 216, May 2023 | </a:t>
            </a:r>
            <a:fld id="{2E7CF561-7B99-E44F-923B-79EAE0C9A6C5}" type="slidenum">
              <a:rPr lang="en-US" smtClean="0"/>
              <a:t>4</a:t>
            </a:fld>
            <a:endParaRPr lang="en-US" dirty="0"/>
          </a:p>
        </p:txBody>
      </p:sp>
    </p:spTree>
    <p:extLst>
      <p:ext uri="{BB962C8B-B14F-4D97-AF65-F5344CB8AC3E}">
        <p14:creationId xmlns:p14="http://schemas.microsoft.com/office/powerpoint/2010/main" val="1188456529"/>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7E2E9"/>
        </a:solidFill>
        <a:effectLst/>
      </p:bgPr>
    </p:bg>
    <p:spTree>
      <p:nvGrpSpPr>
        <p:cNvPr id="1" name=""/>
        <p:cNvGrpSpPr/>
        <p:nvPr/>
      </p:nvGrpSpPr>
      <p:grpSpPr>
        <a:xfrm>
          <a:off x="0" y="0"/>
          <a:ext cx="0" cy="0"/>
          <a:chOff x="0" y="0"/>
          <a:chExt cx="0" cy="0"/>
        </a:xfrm>
      </p:grpSpPr>
      <p:grpSp>
        <p:nvGrpSpPr>
          <p:cNvPr id="2" name="dorsal line">
            <a:extLst>
              <a:ext uri="{FF2B5EF4-FFF2-40B4-BE49-F238E27FC236}">
                <a16:creationId xmlns:a16="http://schemas.microsoft.com/office/drawing/2014/main" id="{3752F751-3968-8022-6344-0C57BFF4CC8A}"/>
              </a:ext>
            </a:extLst>
          </p:cNvPr>
          <p:cNvGrpSpPr/>
          <p:nvPr/>
        </p:nvGrpSpPr>
        <p:grpSpPr>
          <a:xfrm>
            <a:off x="-76183" y="343561"/>
            <a:ext cx="12427209" cy="400110"/>
            <a:chOff x="-76183" y="343561"/>
            <a:chExt cx="12427209" cy="400110"/>
          </a:xfrm>
        </p:grpSpPr>
        <p:sp>
          <p:nvSpPr>
            <p:cNvPr id="10" name="dorsally-located">
              <a:extLst>
                <a:ext uri="{FF2B5EF4-FFF2-40B4-BE49-F238E27FC236}">
                  <a16:creationId xmlns:a16="http://schemas.microsoft.com/office/drawing/2014/main" id="{2A60C3E1-B843-87DE-334F-C6AD74239094}"/>
                </a:ext>
              </a:extLst>
            </p:cNvPr>
            <p:cNvSpPr txBox="1"/>
            <p:nvPr/>
          </p:nvSpPr>
          <p:spPr>
            <a:xfrm>
              <a:off x="5076328" y="343561"/>
              <a:ext cx="1963921" cy="400110"/>
            </a:xfrm>
            <a:prstGeom prst="rect">
              <a:avLst/>
            </a:prstGeom>
            <a:noFill/>
          </p:spPr>
          <p:txBody>
            <a:bodyPr wrap="square" rtlCol="0" anchor="ctr">
              <a:spAutoFit/>
            </a:bodyPr>
            <a:lstStyle/>
            <a:p>
              <a:pPr algn="ctr"/>
              <a:r>
                <a:rPr lang="en-US" sz="2000" b="1" i="1" dirty="0">
                  <a:latin typeface="Franklin Gothic Demi" panose="020B0603020102020204" pitchFamily="34" charset="0"/>
                </a:rPr>
                <a:t>dorsally-located</a:t>
              </a:r>
            </a:p>
          </p:txBody>
        </p:sp>
        <p:cxnSp>
          <p:nvCxnSpPr>
            <p:cNvPr id="8" name="dorsal arrow right">
              <a:extLst>
                <a:ext uri="{FF2B5EF4-FFF2-40B4-BE49-F238E27FC236}">
                  <a16:creationId xmlns:a16="http://schemas.microsoft.com/office/drawing/2014/main" id="{8691D2EE-61CE-DBA8-0AD0-7568D6DC1C1D}"/>
                </a:ext>
              </a:extLst>
            </p:cNvPr>
            <p:cNvCxnSpPr>
              <a:cxnSpLocks/>
              <a:stCxn id="10" idx="3"/>
            </p:cNvCxnSpPr>
            <p:nvPr/>
          </p:nvCxnSpPr>
          <p:spPr>
            <a:xfrm>
              <a:off x="7040249" y="543616"/>
              <a:ext cx="5310777" cy="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6" name="dorsal arrow left">
              <a:extLst>
                <a:ext uri="{FF2B5EF4-FFF2-40B4-BE49-F238E27FC236}">
                  <a16:creationId xmlns:a16="http://schemas.microsoft.com/office/drawing/2014/main" id="{CF88F0B1-3687-8CFB-758D-FFAD5824E8A7}"/>
                </a:ext>
              </a:extLst>
            </p:cNvPr>
            <p:cNvCxnSpPr/>
            <p:nvPr/>
          </p:nvCxnSpPr>
          <p:spPr>
            <a:xfrm flipV="1">
              <a:off x="-76183" y="524622"/>
              <a:ext cx="5151751" cy="13362"/>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grpSp>
      <p:grpSp>
        <p:nvGrpSpPr>
          <p:cNvPr id="3" name="ventral line">
            <a:extLst>
              <a:ext uri="{FF2B5EF4-FFF2-40B4-BE49-F238E27FC236}">
                <a16:creationId xmlns:a16="http://schemas.microsoft.com/office/drawing/2014/main" id="{1A2E3401-9DEF-A5D7-9D1B-49745EED7212}"/>
              </a:ext>
            </a:extLst>
          </p:cNvPr>
          <p:cNvGrpSpPr/>
          <p:nvPr/>
        </p:nvGrpSpPr>
        <p:grpSpPr>
          <a:xfrm>
            <a:off x="-767" y="6127691"/>
            <a:ext cx="12351793" cy="400110"/>
            <a:chOff x="-767" y="6127691"/>
            <a:chExt cx="12351793" cy="400110"/>
          </a:xfrm>
        </p:grpSpPr>
        <p:sp>
          <p:nvSpPr>
            <p:cNvPr id="13" name="ventrally-located">
              <a:extLst>
                <a:ext uri="{FF2B5EF4-FFF2-40B4-BE49-F238E27FC236}">
                  <a16:creationId xmlns:a16="http://schemas.microsoft.com/office/drawing/2014/main" id="{97088E42-8F43-C1F2-9575-6D98F3170E5F}"/>
                </a:ext>
              </a:extLst>
            </p:cNvPr>
            <p:cNvSpPr txBox="1"/>
            <p:nvPr/>
          </p:nvSpPr>
          <p:spPr>
            <a:xfrm>
              <a:off x="5076328" y="6127691"/>
              <a:ext cx="2039337" cy="400110"/>
            </a:xfrm>
            <a:prstGeom prst="rect">
              <a:avLst/>
            </a:prstGeom>
            <a:noFill/>
          </p:spPr>
          <p:txBody>
            <a:bodyPr wrap="square" rtlCol="0" anchor="ctr">
              <a:spAutoFit/>
            </a:bodyPr>
            <a:lstStyle/>
            <a:p>
              <a:pPr algn="ctr"/>
              <a:r>
                <a:rPr lang="en-US" sz="2000" b="1" i="1">
                  <a:latin typeface="Franklin Gothic Demi" panose="020B0603020102020204" pitchFamily="34" charset="0"/>
                </a:rPr>
                <a:t>ventrally-located</a:t>
              </a:r>
            </a:p>
          </p:txBody>
        </p:sp>
        <p:cxnSp>
          <p:nvCxnSpPr>
            <p:cNvPr id="11" name="ventral arrow right">
              <a:extLst>
                <a:ext uri="{FF2B5EF4-FFF2-40B4-BE49-F238E27FC236}">
                  <a16:creationId xmlns:a16="http://schemas.microsoft.com/office/drawing/2014/main" id="{A518B7B5-4E0A-123D-C4E3-AD681EC6BD32}"/>
                </a:ext>
              </a:extLst>
            </p:cNvPr>
            <p:cNvCxnSpPr>
              <a:cxnSpLocks/>
              <a:stCxn id="13" idx="3"/>
            </p:cNvCxnSpPr>
            <p:nvPr/>
          </p:nvCxnSpPr>
          <p:spPr>
            <a:xfrm>
              <a:off x="7115665" y="6327746"/>
              <a:ext cx="5235361" cy="5632"/>
            </a:xfrm>
            <a:prstGeom prst="straightConnector1">
              <a:avLst/>
            </a:prstGeom>
            <a:ln w="12700">
              <a:solidFill>
                <a:schemeClr val="accent6"/>
              </a:solidFill>
              <a:tailEnd type="triangle"/>
            </a:ln>
          </p:spPr>
          <p:style>
            <a:lnRef idx="1">
              <a:schemeClr val="dk1"/>
            </a:lnRef>
            <a:fillRef idx="0">
              <a:schemeClr val="dk1"/>
            </a:fillRef>
            <a:effectRef idx="0">
              <a:schemeClr val="dk1"/>
            </a:effectRef>
            <a:fontRef idx="minor">
              <a:schemeClr val="tx1"/>
            </a:fontRef>
          </p:style>
        </p:cxnSp>
        <p:cxnSp>
          <p:nvCxnSpPr>
            <p:cNvPr id="7" name="ventral arrow left">
              <a:extLst>
                <a:ext uri="{FF2B5EF4-FFF2-40B4-BE49-F238E27FC236}">
                  <a16:creationId xmlns:a16="http://schemas.microsoft.com/office/drawing/2014/main" id="{DABF875B-9C1B-9EF7-BFE9-013E325ABF8B}"/>
                </a:ext>
              </a:extLst>
            </p:cNvPr>
            <p:cNvCxnSpPr/>
            <p:nvPr/>
          </p:nvCxnSpPr>
          <p:spPr>
            <a:xfrm>
              <a:off x="-767" y="6322114"/>
              <a:ext cx="5076335" cy="0"/>
            </a:xfrm>
            <a:prstGeom prst="straightConnector1">
              <a:avLst/>
            </a:prstGeom>
            <a:ln w="12700">
              <a:solidFill>
                <a:schemeClr val="accent6"/>
              </a:solidFill>
              <a:tailEnd type="triangle"/>
            </a:ln>
          </p:spPr>
          <p:style>
            <a:lnRef idx="1">
              <a:schemeClr val="dk1"/>
            </a:lnRef>
            <a:fillRef idx="0">
              <a:schemeClr val="dk1"/>
            </a:fillRef>
            <a:effectRef idx="0">
              <a:schemeClr val="dk1"/>
            </a:effectRef>
            <a:fontRef idx="minor">
              <a:schemeClr val="tx1"/>
            </a:fontRef>
          </p:style>
        </p:cxnSp>
      </p:grpSp>
      <p:sp>
        <p:nvSpPr>
          <p:cNvPr id="4" name="hemispherical?">
            <a:extLst>
              <a:ext uri="{FF2B5EF4-FFF2-40B4-BE49-F238E27FC236}">
                <a16:creationId xmlns:a16="http://schemas.microsoft.com/office/drawing/2014/main" id="{E5968107-1B54-B2A0-854A-F51814DEA5F5}"/>
              </a:ext>
            </a:extLst>
          </p:cNvPr>
          <p:cNvSpPr txBox="1"/>
          <p:nvPr/>
        </p:nvSpPr>
        <p:spPr>
          <a:xfrm>
            <a:off x="5225208" y="3244332"/>
            <a:ext cx="1741584" cy="369332"/>
          </a:xfrm>
          <a:prstGeom prst="rect">
            <a:avLst/>
          </a:prstGeom>
          <a:noFill/>
        </p:spPr>
        <p:txBody>
          <a:bodyPr wrap="square" rtlCol="0" anchor="ctr">
            <a:spAutoFit/>
          </a:bodyPr>
          <a:lstStyle/>
          <a:p>
            <a:pPr algn="ctr"/>
            <a:r>
              <a:rPr lang="en-US" i="1" dirty="0">
                <a:latin typeface="Franklin Gothic Medium" panose="020B0603020102020204" pitchFamily="34" charset="0"/>
              </a:rPr>
              <a:t>hemispherical?</a:t>
            </a:r>
            <a:endParaRPr lang="en-US" sz="1600" dirty="0">
              <a:latin typeface="Franklin Gothic Medium Cond" panose="020B0606030402020204" pitchFamily="34" charset="0"/>
            </a:endParaRPr>
          </a:p>
        </p:txBody>
      </p:sp>
      <p:sp>
        <p:nvSpPr>
          <p:cNvPr id="5" name="German">
            <a:extLst>
              <a:ext uri="{FF2B5EF4-FFF2-40B4-BE49-F238E27FC236}">
                <a16:creationId xmlns:a16="http://schemas.microsoft.com/office/drawing/2014/main" id="{7AEFF9C3-A553-CB48-199B-382EB7AE10A7}"/>
              </a:ext>
            </a:extLst>
          </p:cNvPr>
          <p:cNvSpPr txBox="1"/>
          <p:nvPr/>
        </p:nvSpPr>
        <p:spPr>
          <a:xfrm>
            <a:off x="796584" y="3121223"/>
            <a:ext cx="1741584" cy="615553"/>
          </a:xfrm>
          <a:prstGeom prst="rect">
            <a:avLst/>
          </a:prstGeom>
          <a:noFill/>
        </p:spPr>
        <p:txBody>
          <a:bodyPr wrap="square" rtlCol="0" anchor="ctr">
            <a:spAutoFit/>
          </a:bodyPr>
          <a:lstStyle/>
          <a:p>
            <a:pPr algn="ctr"/>
            <a:r>
              <a:rPr lang="en-US" i="1" dirty="0">
                <a:latin typeface="Franklin Gothic Medium" panose="020B0603020102020204" pitchFamily="34" charset="0"/>
              </a:rPr>
              <a:t>German</a:t>
            </a:r>
          </a:p>
          <a:p>
            <a:pPr algn="ctr"/>
            <a:r>
              <a:rPr lang="en-US" sz="1600" dirty="0">
                <a:latin typeface="Franklin Gothic Medium Cond" panose="020B0606030402020204" pitchFamily="34" charset="0"/>
              </a:rPr>
              <a:t>syntax processing</a:t>
            </a:r>
          </a:p>
        </p:txBody>
      </p:sp>
      <p:sp>
        <p:nvSpPr>
          <p:cNvPr id="9" name="Arabic">
            <a:extLst>
              <a:ext uri="{FF2B5EF4-FFF2-40B4-BE49-F238E27FC236}">
                <a16:creationId xmlns:a16="http://schemas.microsoft.com/office/drawing/2014/main" id="{6B5832F3-BED8-5A0B-3E9B-B1CCC178BE0E}"/>
              </a:ext>
            </a:extLst>
          </p:cNvPr>
          <p:cNvSpPr txBox="1"/>
          <p:nvPr/>
        </p:nvSpPr>
        <p:spPr>
          <a:xfrm>
            <a:off x="9653832" y="3121222"/>
            <a:ext cx="1741584" cy="615553"/>
          </a:xfrm>
          <a:prstGeom prst="rect">
            <a:avLst/>
          </a:prstGeom>
          <a:noFill/>
        </p:spPr>
        <p:txBody>
          <a:bodyPr wrap="square" rtlCol="0" anchor="ctr">
            <a:spAutoFit/>
          </a:bodyPr>
          <a:lstStyle/>
          <a:p>
            <a:pPr algn="ctr"/>
            <a:r>
              <a:rPr lang="en-US" i="1" dirty="0">
                <a:latin typeface="Franklin Gothic Medium" panose="020B0603020102020204" pitchFamily="34" charset="0"/>
              </a:rPr>
              <a:t>Arabic</a:t>
            </a:r>
          </a:p>
          <a:p>
            <a:pPr algn="ctr"/>
            <a:r>
              <a:rPr lang="en-US" sz="1600" dirty="0">
                <a:latin typeface="Franklin Gothic Medium Cond" panose="020B0606030402020204" pitchFamily="34" charset="0"/>
              </a:rPr>
              <a:t>semantic processing</a:t>
            </a:r>
          </a:p>
        </p:txBody>
      </p:sp>
      <p:cxnSp>
        <p:nvCxnSpPr>
          <p:cNvPr id="14" name="German dorsal arrow">
            <a:extLst>
              <a:ext uri="{FF2B5EF4-FFF2-40B4-BE49-F238E27FC236}">
                <a16:creationId xmlns:a16="http://schemas.microsoft.com/office/drawing/2014/main" id="{2A964960-31C5-363E-92F4-9A741F0BE373}"/>
              </a:ext>
            </a:extLst>
          </p:cNvPr>
          <p:cNvCxnSpPr>
            <a:stCxn id="5" idx="0"/>
          </p:cNvCxnSpPr>
          <p:nvPr/>
        </p:nvCxnSpPr>
        <p:spPr>
          <a:xfrm flipV="1">
            <a:off x="1667376" y="743671"/>
            <a:ext cx="0" cy="2377552"/>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Arabic ventral arrow">
            <a:extLst>
              <a:ext uri="{FF2B5EF4-FFF2-40B4-BE49-F238E27FC236}">
                <a16:creationId xmlns:a16="http://schemas.microsoft.com/office/drawing/2014/main" id="{E531DBAE-9DA2-B82A-43A2-A9961261AEA0}"/>
              </a:ext>
            </a:extLst>
          </p:cNvPr>
          <p:cNvCxnSpPr>
            <a:stCxn id="9" idx="2"/>
          </p:cNvCxnSpPr>
          <p:nvPr/>
        </p:nvCxnSpPr>
        <p:spPr>
          <a:xfrm>
            <a:off x="10524624" y="3736775"/>
            <a:ext cx="0" cy="239091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31" name="hemisphericalgraphs">
            <a:extLst>
              <a:ext uri="{FF2B5EF4-FFF2-40B4-BE49-F238E27FC236}">
                <a16:creationId xmlns:a16="http://schemas.microsoft.com/office/drawing/2014/main" id="{D73A92B9-2A76-66FA-FD1E-9DA8CAA301B5}"/>
              </a:ext>
            </a:extLst>
          </p:cNvPr>
          <p:cNvGrpSpPr/>
          <p:nvPr/>
        </p:nvGrpSpPr>
        <p:grpSpPr>
          <a:xfrm>
            <a:off x="796584" y="2109381"/>
            <a:ext cx="10598832" cy="3070629"/>
            <a:chOff x="796584" y="2109381"/>
            <a:chExt cx="10598832" cy="3070629"/>
          </a:xfrm>
        </p:grpSpPr>
        <p:pic>
          <p:nvPicPr>
            <p:cNvPr id="22" name="german key">
              <a:extLst>
                <a:ext uri="{FF2B5EF4-FFF2-40B4-BE49-F238E27FC236}">
                  <a16:creationId xmlns:a16="http://schemas.microsoft.com/office/drawing/2014/main" id="{68671229-4661-6F79-2E42-FBC877C5EE5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7185" t="92742" r="4792" b="1357"/>
            <a:stretch/>
          </p:blipFill>
          <p:spPr bwMode="auto">
            <a:xfrm>
              <a:off x="5645570" y="2632411"/>
              <a:ext cx="894751" cy="369332"/>
            </a:xfrm>
            <a:prstGeom prst="roundRect">
              <a:avLst>
                <a:gd name="adj" fmla="val 8594"/>
              </a:avLst>
            </a:prstGeom>
            <a:solidFill>
              <a:srgbClr val="FFFFFF">
                <a:shade val="85000"/>
              </a:srgbClr>
            </a:solidFill>
            <a:ln>
              <a:noFill/>
            </a:ln>
            <a:effectLst/>
          </p:spPr>
        </p:pic>
        <p:pic>
          <p:nvPicPr>
            <p:cNvPr id="20" name="arabic key">
              <a:extLst>
                <a:ext uri="{FF2B5EF4-FFF2-40B4-BE49-F238E27FC236}">
                  <a16:creationId xmlns:a16="http://schemas.microsoft.com/office/drawing/2014/main" id="{213E7451-98F4-D48D-AC32-120AA5D4474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746" t="92742" r="13231" b="1357"/>
            <a:stretch/>
          </p:blipFill>
          <p:spPr bwMode="auto">
            <a:xfrm>
              <a:off x="5645570" y="3850617"/>
              <a:ext cx="894751" cy="369332"/>
            </a:xfrm>
            <a:prstGeom prst="roundRect">
              <a:avLst>
                <a:gd name="adj" fmla="val 8594"/>
              </a:avLst>
            </a:prstGeom>
            <a:solidFill>
              <a:srgbClr val="FFFFFF">
                <a:shade val="85000"/>
              </a:srgbClr>
            </a:solidFill>
            <a:ln>
              <a:noFill/>
            </a:ln>
            <a:effectLst/>
          </p:spPr>
        </p:pic>
        <p:grpSp>
          <p:nvGrpSpPr>
            <p:cNvPr id="28" name="intra-">
              <a:extLst>
                <a:ext uri="{FF2B5EF4-FFF2-40B4-BE49-F238E27FC236}">
                  <a16:creationId xmlns:a16="http://schemas.microsoft.com/office/drawing/2014/main" id="{CD0A5445-7F65-4FD3-7A78-BCED517DB772}"/>
                </a:ext>
              </a:extLst>
            </p:cNvPr>
            <p:cNvGrpSpPr/>
            <p:nvPr/>
          </p:nvGrpSpPr>
          <p:grpSpPr>
            <a:xfrm>
              <a:off x="796584" y="2111098"/>
              <a:ext cx="3312249" cy="3054155"/>
              <a:chOff x="796584" y="2111098"/>
              <a:chExt cx="3312249" cy="3054155"/>
            </a:xfrm>
          </p:grpSpPr>
          <p:pic>
            <p:nvPicPr>
              <p:cNvPr id="17" name="intra">
                <a:extLst>
                  <a:ext uri="{FF2B5EF4-FFF2-40B4-BE49-F238E27FC236}">
                    <a16:creationId xmlns:a16="http://schemas.microsoft.com/office/drawing/2014/main" id="{AFF73DA5-9F6D-76CC-D8DF-BB0A6DCB36D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9948" t="47859" r="351" b="6708"/>
              <a:stretch/>
            </p:blipFill>
            <p:spPr bwMode="auto">
              <a:xfrm>
                <a:off x="796584" y="2111098"/>
                <a:ext cx="3312249" cy="2843590"/>
              </a:xfrm>
              <a:prstGeom prst="roundRect">
                <a:avLst>
                  <a:gd name="adj" fmla="val 8594"/>
                </a:avLst>
              </a:prstGeom>
              <a:solidFill>
                <a:srgbClr val="FFFFFF">
                  <a:shade val="85000"/>
                </a:srgbClr>
              </a:solidFill>
              <a:ln>
                <a:noFill/>
              </a:ln>
              <a:effectLst/>
            </p:spPr>
          </p:pic>
          <p:sp>
            <p:nvSpPr>
              <p:cNvPr id="26" name="citeimage">
                <a:extLst>
                  <a:ext uri="{FF2B5EF4-FFF2-40B4-BE49-F238E27FC236}">
                    <a16:creationId xmlns:a16="http://schemas.microsoft.com/office/drawing/2014/main" id="{6BACBA0E-38F1-E50B-ABDE-3CDE10BBB6BD}"/>
                  </a:ext>
                </a:extLst>
              </p:cNvPr>
              <p:cNvSpPr txBox="1"/>
              <p:nvPr/>
            </p:nvSpPr>
            <p:spPr>
              <a:xfrm>
                <a:off x="1544439" y="4949809"/>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11. </a:t>
                </a:r>
                <a:r>
                  <a:rPr lang="en-US" sz="400" dirty="0">
                    <a:latin typeface="Franklin Gothic Medium" panose="020B0603020102020204" pitchFamily="34" charset="0"/>
                  </a:rPr>
                  <a:t>NBS data as boxplots on intra-hemispheric connectivity.</a:t>
                </a:r>
              </a:p>
              <a:p>
                <a:pPr algn="r"/>
                <a:r>
                  <a:rPr lang="en-US" sz="400" dirty="0">
                    <a:latin typeface="Franklin Gothic Medium" panose="020B0603020102020204" pitchFamily="34" charset="0"/>
                  </a:rPr>
                  <a:t>Note. Adapted from Wei et al. (2023)</a:t>
                </a:r>
                <a:endParaRPr lang="en-US" sz="400" i="1" dirty="0">
                  <a:highlight>
                    <a:srgbClr val="00FFFF"/>
                  </a:highlight>
                  <a:latin typeface="Franklin Gothic Medium" panose="020B0603020102020204" pitchFamily="34" charset="0"/>
                </a:endParaRPr>
              </a:p>
            </p:txBody>
          </p:sp>
        </p:grpSp>
        <p:grpSp>
          <p:nvGrpSpPr>
            <p:cNvPr id="29" name="inter-">
              <a:extLst>
                <a:ext uri="{FF2B5EF4-FFF2-40B4-BE49-F238E27FC236}">
                  <a16:creationId xmlns:a16="http://schemas.microsoft.com/office/drawing/2014/main" id="{69451B8A-3E1D-A0D1-883A-19194734014D}"/>
                </a:ext>
              </a:extLst>
            </p:cNvPr>
            <p:cNvGrpSpPr/>
            <p:nvPr/>
          </p:nvGrpSpPr>
          <p:grpSpPr>
            <a:xfrm>
              <a:off x="8534404" y="2109381"/>
              <a:ext cx="2861012" cy="3070629"/>
              <a:chOff x="8534404" y="2109381"/>
              <a:chExt cx="2861012" cy="3070629"/>
            </a:xfrm>
          </p:grpSpPr>
          <p:pic>
            <p:nvPicPr>
              <p:cNvPr id="8196" name="inter">
                <a:extLst>
                  <a:ext uri="{FF2B5EF4-FFF2-40B4-BE49-F238E27FC236}">
                    <a16:creationId xmlns:a16="http://schemas.microsoft.com/office/drawing/2014/main" id="{E6C49784-7DE0-A2CD-393C-5154C4BE7DD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0507" t="5366" r="7383" b="55477"/>
              <a:stretch/>
            </p:blipFill>
            <p:spPr bwMode="auto">
              <a:xfrm>
                <a:off x="8534404" y="2109381"/>
                <a:ext cx="2861012" cy="2843591"/>
              </a:xfrm>
              <a:prstGeom prst="roundRect">
                <a:avLst>
                  <a:gd name="adj" fmla="val 8594"/>
                </a:avLst>
              </a:prstGeom>
              <a:solidFill>
                <a:srgbClr val="FFFFFF">
                  <a:shade val="85000"/>
                </a:srgbClr>
              </a:solidFill>
              <a:ln>
                <a:noFill/>
              </a:ln>
              <a:effectLst/>
            </p:spPr>
          </p:pic>
          <p:sp>
            <p:nvSpPr>
              <p:cNvPr id="27" name="citeimage">
                <a:extLst>
                  <a:ext uri="{FF2B5EF4-FFF2-40B4-BE49-F238E27FC236}">
                    <a16:creationId xmlns:a16="http://schemas.microsoft.com/office/drawing/2014/main" id="{57F19666-9D1A-793B-F41C-6F0F7C5994AE}"/>
                  </a:ext>
                </a:extLst>
              </p:cNvPr>
              <p:cNvSpPr txBox="1"/>
              <p:nvPr/>
            </p:nvSpPr>
            <p:spPr>
              <a:xfrm>
                <a:off x="8831022" y="4964566"/>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12. </a:t>
                </a:r>
                <a:r>
                  <a:rPr lang="en-US" sz="400" dirty="0">
                    <a:latin typeface="Franklin Gothic Medium" panose="020B0603020102020204" pitchFamily="34" charset="0"/>
                  </a:rPr>
                  <a:t>NBS data as boxplots on inter-hemispherical connectivity.</a:t>
                </a:r>
              </a:p>
              <a:p>
                <a:pPr algn="r"/>
                <a:r>
                  <a:rPr lang="en-US" sz="400" dirty="0">
                    <a:latin typeface="Franklin Gothic Medium" panose="020B0603020102020204" pitchFamily="34" charset="0"/>
                  </a:rPr>
                  <a:t>Note. Adapted from Wei et al. (2023)</a:t>
                </a:r>
                <a:endParaRPr lang="en-US" sz="400" i="1" dirty="0">
                  <a:highlight>
                    <a:srgbClr val="00FFFF"/>
                  </a:highlight>
                  <a:latin typeface="Franklin Gothic Medium" panose="020B0603020102020204" pitchFamily="34" charset="0"/>
                </a:endParaRPr>
              </a:p>
            </p:txBody>
          </p:sp>
        </p:grpSp>
      </p:grpSp>
      <p:sp>
        <p:nvSpPr>
          <p:cNvPr id="34" name="Footer Placeholder 18">
            <a:extLst>
              <a:ext uri="{FF2B5EF4-FFF2-40B4-BE49-F238E27FC236}">
                <a16:creationId xmlns:a16="http://schemas.microsoft.com/office/drawing/2014/main" id="{61297F4C-22A6-97E6-D37B-31EE6645FE95}"/>
              </a:ext>
            </a:extLst>
          </p:cNvPr>
          <p:cNvSpPr>
            <a:spLocks noGrp="1"/>
          </p:cNvSpPr>
          <p:nvPr>
            <p:ph type="ftr" sz="quarter" idx="11"/>
          </p:nvPr>
        </p:nvSpPr>
        <p:spPr>
          <a:xfrm>
            <a:off x="257672" y="12862"/>
            <a:ext cx="4114800" cy="365125"/>
          </a:xfrm>
        </p:spPr>
        <p:txBody>
          <a:bodyPr/>
          <a:lstStyle/>
          <a:p>
            <a:pPr algn="l"/>
            <a:r>
              <a:rPr lang="en-US" dirty="0"/>
              <a:t>Lara </a:t>
            </a:r>
            <a:r>
              <a:rPr lang="en-US" dirty="0" err="1"/>
              <a:t>Baldez</a:t>
            </a:r>
            <a:r>
              <a:rPr lang="en-US" dirty="0"/>
              <a:t> Duque Ribeiro</a:t>
            </a:r>
          </a:p>
        </p:txBody>
      </p:sp>
      <p:sp>
        <p:nvSpPr>
          <p:cNvPr id="35" name="Slide Number Placeholder 19">
            <a:extLst>
              <a:ext uri="{FF2B5EF4-FFF2-40B4-BE49-F238E27FC236}">
                <a16:creationId xmlns:a16="http://schemas.microsoft.com/office/drawing/2014/main" id="{491446E5-BC97-F82B-944A-5030B6432997}"/>
              </a:ext>
            </a:extLst>
          </p:cNvPr>
          <p:cNvSpPr>
            <a:spLocks noGrp="1"/>
          </p:cNvSpPr>
          <p:nvPr>
            <p:ph type="sldNum" sz="quarter" idx="12"/>
          </p:nvPr>
        </p:nvSpPr>
        <p:spPr>
          <a:xfrm>
            <a:off x="9191128" y="12862"/>
            <a:ext cx="2743200" cy="365125"/>
          </a:xfrm>
        </p:spPr>
        <p:txBody>
          <a:bodyPr/>
          <a:lstStyle/>
          <a:p>
            <a:r>
              <a:rPr lang="en-US" dirty="0"/>
              <a:t>PSYC 216, May 2023 | </a:t>
            </a:r>
            <a:fld id="{2E7CF561-7B99-E44F-923B-79EAE0C9A6C5}" type="slidenum">
              <a:rPr lang="en-US" smtClean="0"/>
              <a:t>5</a:t>
            </a:fld>
            <a:endParaRPr lang="en-US" dirty="0"/>
          </a:p>
        </p:txBody>
      </p:sp>
      <p:grpSp>
        <p:nvGrpSpPr>
          <p:cNvPr id="37" name="summaryDiagramgroup">
            <a:extLst>
              <a:ext uri="{FF2B5EF4-FFF2-40B4-BE49-F238E27FC236}">
                <a16:creationId xmlns:a16="http://schemas.microsoft.com/office/drawing/2014/main" id="{A297410F-5612-7066-3766-7F42D01D5A1B}"/>
              </a:ext>
            </a:extLst>
          </p:cNvPr>
          <p:cNvGrpSpPr/>
          <p:nvPr/>
        </p:nvGrpSpPr>
        <p:grpSpPr>
          <a:xfrm>
            <a:off x="1048241" y="840724"/>
            <a:ext cx="10347175" cy="5385104"/>
            <a:chOff x="1048241" y="840724"/>
            <a:chExt cx="10347175" cy="5385104"/>
          </a:xfrm>
        </p:grpSpPr>
        <p:pic>
          <p:nvPicPr>
            <p:cNvPr id="8200" name="summaryDiagram">
              <a:extLst>
                <a:ext uri="{FF2B5EF4-FFF2-40B4-BE49-F238E27FC236}">
                  <a16:creationId xmlns:a16="http://schemas.microsoft.com/office/drawing/2014/main" id="{6E944714-4684-9ABC-E8AC-09C9767302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8241" y="840724"/>
              <a:ext cx="10347175" cy="5189755"/>
            </a:xfrm>
            <a:prstGeom prst="roundRect">
              <a:avLst>
                <a:gd name="adj" fmla="val 8594"/>
              </a:avLst>
            </a:prstGeom>
            <a:solidFill>
              <a:srgbClr val="FFFFFF">
                <a:shade val="85000"/>
              </a:srgbClr>
            </a:solidFill>
            <a:ln>
              <a:noFill/>
            </a:ln>
            <a:effectLst/>
          </p:spPr>
        </p:pic>
        <p:sp>
          <p:nvSpPr>
            <p:cNvPr id="36" name="fig13">
              <a:extLst>
                <a:ext uri="{FF2B5EF4-FFF2-40B4-BE49-F238E27FC236}">
                  <a16:creationId xmlns:a16="http://schemas.microsoft.com/office/drawing/2014/main" id="{1B3E067D-28A9-0691-5C7C-240755726569}"/>
                </a:ext>
              </a:extLst>
            </p:cNvPr>
            <p:cNvSpPr txBox="1"/>
            <p:nvPr/>
          </p:nvSpPr>
          <p:spPr>
            <a:xfrm>
              <a:off x="8831022" y="6010384"/>
              <a:ext cx="2564394" cy="215444"/>
            </a:xfrm>
            <a:prstGeom prst="rect">
              <a:avLst/>
            </a:prstGeom>
            <a:noFill/>
          </p:spPr>
          <p:txBody>
            <a:bodyPr wrap="square" rtlCol="0" anchor="ctr">
              <a:spAutoFit/>
            </a:bodyPr>
            <a:lstStyle/>
            <a:p>
              <a:pPr algn="r"/>
              <a:r>
                <a:rPr lang="en-US" sz="400" i="1" dirty="0">
                  <a:latin typeface="Franklin Gothic Medium" panose="020B0603020102020204" pitchFamily="34" charset="0"/>
                </a:rPr>
                <a:t>Figure 13. </a:t>
              </a:r>
              <a:r>
                <a:rPr lang="en-US" sz="400" dirty="0">
                  <a:latin typeface="Franklin Gothic Medium" panose="020B0603020102020204" pitchFamily="34" charset="0"/>
                </a:rPr>
                <a:t>Summary image of results from Wei et al. (2023).</a:t>
              </a:r>
            </a:p>
            <a:p>
              <a:pPr algn="r"/>
              <a:r>
                <a:rPr lang="en-US" sz="400" dirty="0">
                  <a:latin typeface="Franklin Gothic Medium" panose="020B0603020102020204" pitchFamily="34" charset="0"/>
                </a:rPr>
                <a:t>Note. Adapted from Wei et al. (2023)</a:t>
              </a:r>
              <a:endParaRPr lang="en-US" sz="400" i="1" dirty="0">
                <a:highlight>
                  <a:srgbClr val="00FFFF"/>
                </a:highlight>
                <a:latin typeface="Franklin Gothic Medium" panose="020B0603020102020204" pitchFamily="34" charset="0"/>
              </a:endParaRPr>
            </a:p>
          </p:txBody>
        </p:sp>
      </p:grpSp>
    </p:spTree>
    <p:extLst>
      <p:ext uri="{BB962C8B-B14F-4D97-AF65-F5344CB8AC3E}">
        <p14:creationId xmlns:p14="http://schemas.microsoft.com/office/powerpoint/2010/main" val="256380581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9"/>
                                        </p:tgtEl>
                                      </p:cBhvr>
                                    </p:animEffect>
                                    <p:set>
                                      <p:cBhvr>
                                        <p:cTn id="10" dur="1" fill="hold">
                                          <p:stCondLst>
                                            <p:cond delay="499"/>
                                          </p:stCondLst>
                                        </p:cTn>
                                        <p:tgtEl>
                                          <p:spTgt spid="9"/>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14"/>
                                        </p:tgtEl>
                                      </p:cBhvr>
                                    </p:animEffect>
                                    <p:set>
                                      <p:cBhvr>
                                        <p:cTn id="13" dur="1" fill="hold">
                                          <p:stCondLst>
                                            <p:cond delay="499"/>
                                          </p:stCondLst>
                                        </p:cTn>
                                        <p:tgtEl>
                                          <p:spTgt spid="14"/>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2" presetClass="entr" presetSubtype="8"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0-#ppt_w/2"/>
                                          </p:val>
                                        </p:tav>
                                        <p:tav tm="100000">
                                          <p:val>
                                            <p:strVal val="#ppt_x"/>
                                          </p:val>
                                        </p:tav>
                                      </p:tavLst>
                                    </p:anim>
                                    <p:anim calcmode="lin" valueType="num">
                                      <p:cBhvr additive="base">
                                        <p:cTn id="20"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2" fill="hold" nodeType="clickEffect">
                                  <p:stCondLst>
                                    <p:cond delay="0"/>
                                  </p:stCondLst>
                                  <p:childTnLst>
                                    <p:anim calcmode="lin" valueType="num">
                                      <p:cBhvr additive="base">
                                        <p:cTn id="24" dur="500"/>
                                        <p:tgtEl>
                                          <p:spTgt spid="31"/>
                                        </p:tgtEl>
                                        <p:attrNameLst>
                                          <p:attrName>ppt_x</p:attrName>
                                        </p:attrNameLst>
                                      </p:cBhvr>
                                      <p:tavLst>
                                        <p:tav tm="0">
                                          <p:val>
                                            <p:strVal val="ppt_x"/>
                                          </p:val>
                                        </p:tav>
                                        <p:tav tm="100000">
                                          <p:val>
                                            <p:strVal val="1+ppt_w/2"/>
                                          </p:val>
                                        </p:tav>
                                      </p:tavLst>
                                    </p:anim>
                                    <p:anim calcmode="lin" valueType="num">
                                      <p:cBhvr additive="base">
                                        <p:cTn id="25" dur="500"/>
                                        <p:tgtEl>
                                          <p:spTgt spid="31"/>
                                        </p:tgtEl>
                                        <p:attrNameLst>
                                          <p:attrName>ppt_y</p:attrName>
                                        </p:attrNameLst>
                                      </p:cBhvr>
                                      <p:tavLst>
                                        <p:tav tm="0">
                                          <p:val>
                                            <p:strVal val="ppt_y"/>
                                          </p:val>
                                        </p:tav>
                                        <p:tav tm="100000">
                                          <p:val>
                                            <p:strVal val="ppt_y"/>
                                          </p:val>
                                        </p:tav>
                                      </p:tavLst>
                                    </p:anim>
                                    <p:set>
                                      <p:cBhvr>
                                        <p:cTn id="26" dur="1" fill="hold">
                                          <p:stCondLst>
                                            <p:cond delay="499"/>
                                          </p:stCondLst>
                                        </p:cTn>
                                        <p:tgtEl>
                                          <p:spTgt spid="31"/>
                                        </p:tgtEl>
                                        <p:attrNameLst>
                                          <p:attrName>style.visibility</p:attrName>
                                        </p:attrNameLst>
                                      </p:cBhvr>
                                      <p:to>
                                        <p:strVal val="hidden"/>
                                      </p:to>
                                    </p:set>
                                  </p:childTnLst>
                                </p:cTn>
                              </p:par>
                              <p:par>
                                <p:cTn id="27" presetID="2" presetClass="entr" presetSubtype="8"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anim calcmode="lin" valueType="num">
                                      <p:cBhvr additive="base">
                                        <p:cTn id="29" dur="500" fill="hold"/>
                                        <p:tgtEl>
                                          <p:spTgt spid="37"/>
                                        </p:tgtEl>
                                        <p:attrNameLst>
                                          <p:attrName>ppt_x</p:attrName>
                                        </p:attrNameLst>
                                      </p:cBhvr>
                                      <p:tavLst>
                                        <p:tav tm="0">
                                          <p:val>
                                            <p:strVal val="0-#ppt_w/2"/>
                                          </p:val>
                                        </p:tav>
                                        <p:tav tm="100000">
                                          <p:val>
                                            <p:strVal val="#ppt_x"/>
                                          </p:val>
                                        </p:tav>
                                      </p:tavLst>
                                    </p:anim>
                                    <p:anim calcmode="lin" valueType="num">
                                      <p:cBhvr additive="base">
                                        <p:cTn id="30"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xit" presetSubtype="2" fill="hold" nodeType="clickEffect">
                                  <p:stCondLst>
                                    <p:cond delay="0"/>
                                  </p:stCondLst>
                                  <p:childTnLst>
                                    <p:anim calcmode="lin" valueType="num">
                                      <p:cBhvr additive="base">
                                        <p:cTn id="34" dur="500"/>
                                        <p:tgtEl>
                                          <p:spTgt spid="37"/>
                                        </p:tgtEl>
                                        <p:attrNameLst>
                                          <p:attrName>ppt_x</p:attrName>
                                        </p:attrNameLst>
                                      </p:cBhvr>
                                      <p:tavLst>
                                        <p:tav tm="0">
                                          <p:val>
                                            <p:strVal val="ppt_x"/>
                                          </p:val>
                                        </p:tav>
                                        <p:tav tm="100000">
                                          <p:val>
                                            <p:strVal val="1+ppt_w/2"/>
                                          </p:val>
                                        </p:tav>
                                      </p:tavLst>
                                    </p:anim>
                                    <p:anim calcmode="lin" valueType="num">
                                      <p:cBhvr additive="base">
                                        <p:cTn id="35" dur="500"/>
                                        <p:tgtEl>
                                          <p:spTgt spid="37"/>
                                        </p:tgtEl>
                                        <p:attrNameLst>
                                          <p:attrName>ppt_y</p:attrName>
                                        </p:attrNameLst>
                                      </p:cBhvr>
                                      <p:tavLst>
                                        <p:tav tm="0">
                                          <p:val>
                                            <p:strVal val="ppt_y"/>
                                          </p:val>
                                        </p:tav>
                                        <p:tav tm="100000">
                                          <p:val>
                                            <p:strVal val="ppt_y"/>
                                          </p:val>
                                        </p:tav>
                                      </p:tavLst>
                                    </p:anim>
                                    <p:set>
                                      <p:cBhvr>
                                        <p:cTn id="36" dur="1" fill="hold">
                                          <p:stCondLst>
                                            <p:cond delay="499"/>
                                          </p:stCondLst>
                                        </p:cTn>
                                        <p:tgtEl>
                                          <p:spTgt spid="37"/>
                                        </p:tgtEl>
                                        <p:attrNameLst>
                                          <p:attrName>style.visibility</p:attrName>
                                        </p:attrNameLst>
                                      </p:cBhvr>
                                      <p:to>
                                        <p:strVal val="hidden"/>
                                      </p:to>
                                    </p:se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1" nodeType="with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500"/>
                                        <p:tgtEl>
                                          <p:spTgt spid="5"/>
                                        </p:tgtEl>
                                      </p:cBhvr>
                                    </p:animEffect>
                                  </p:childTnLst>
                                </p:cTn>
                              </p:par>
                              <p:par>
                                <p:cTn id="43" presetID="10" presetClass="entr" presetSubtype="0" fill="hold" grpId="1"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9" grpId="0"/>
      <p:bldP spid="9" grpId="1"/>
    </p:bldLst>
  </p:timing>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7E2E9"/>
        </a:solidFill>
        <a:effectLst/>
      </p:bgPr>
    </p:bg>
    <p:spTree>
      <p:nvGrpSpPr>
        <p:cNvPr id="1" name=""/>
        <p:cNvGrpSpPr/>
        <p:nvPr/>
      </p:nvGrpSpPr>
      <p:grpSpPr>
        <a:xfrm>
          <a:off x="0" y="0"/>
          <a:ext cx="0" cy="0"/>
          <a:chOff x="0" y="0"/>
          <a:chExt cx="0" cy="0"/>
        </a:xfrm>
      </p:grpSpPr>
      <p:sp>
        <p:nvSpPr>
          <p:cNvPr id="19" name="GERMAN vs ARABIC">
            <a:extLst>
              <a:ext uri="{FF2B5EF4-FFF2-40B4-BE49-F238E27FC236}">
                <a16:creationId xmlns:a16="http://schemas.microsoft.com/office/drawing/2014/main" id="{F4CED3EE-70D0-998D-451F-74CEF910F1BE}"/>
              </a:ext>
            </a:extLst>
          </p:cNvPr>
          <p:cNvSpPr txBox="1"/>
          <p:nvPr/>
        </p:nvSpPr>
        <p:spPr>
          <a:xfrm>
            <a:off x="3124786" y="506887"/>
            <a:ext cx="5942428" cy="707886"/>
          </a:xfrm>
          <a:prstGeom prst="rect">
            <a:avLst/>
          </a:prstGeom>
          <a:noFill/>
        </p:spPr>
        <p:txBody>
          <a:bodyPr wrap="square" rtlCol="0" anchor="ctr">
            <a:spAutoFit/>
          </a:bodyPr>
          <a:lstStyle/>
          <a:p>
            <a:pPr algn="ctr"/>
            <a:r>
              <a:rPr lang="en-US" sz="4000" b="1" i="1" dirty="0">
                <a:latin typeface="Franklin Gothic Demi" panose="020B0603020102020204" pitchFamily="34" charset="0"/>
              </a:rPr>
              <a:t>References / Works Cited</a:t>
            </a:r>
          </a:p>
        </p:txBody>
      </p:sp>
      <p:sp>
        <p:nvSpPr>
          <p:cNvPr id="27" name="quasi">
            <a:extLst>
              <a:ext uri="{FF2B5EF4-FFF2-40B4-BE49-F238E27FC236}">
                <a16:creationId xmlns:a16="http://schemas.microsoft.com/office/drawing/2014/main" id="{C9C57882-A234-3951-2B1E-D2BD5E44622D}"/>
              </a:ext>
            </a:extLst>
          </p:cNvPr>
          <p:cNvSpPr txBox="1"/>
          <p:nvPr/>
        </p:nvSpPr>
        <p:spPr>
          <a:xfrm>
            <a:off x="470536" y="1214773"/>
            <a:ext cx="11250928" cy="5223481"/>
          </a:xfrm>
          <a:prstGeom prst="rect">
            <a:avLst/>
          </a:prstGeom>
          <a:noFill/>
        </p:spPr>
        <p:txBody>
          <a:bodyPr wrap="square" rtlCol="0" anchor="t">
            <a:spAutoFit/>
          </a:bodyPr>
          <a:lstStyle/>
          <a:p>
            <a:pPr marL="457200" indent="-457200">
              <a:lnSpc>
                <a:spcPct val="150000"/>
              </a:lnSpc>
            </a:pPr>
            <a:r>
              <a:rPr lang="en-US" sz="1400" dirty="0">
                <a:latin typeface="Franklin Gothic Medium Cond" panose="020B0606030402020204" pitchFamily="34" charset="0"/>
              </a:rPr>
              <a:t>Cornell, B. (2016a). </a:t>
            </a:r>
            <a:r>
              <a:rPr lang="en-US" sz="1400" i="1" dirty="0">
                <a:latin typeface="Franklin Gothic Medium Cond" panose="020B0606030402020204" pitchFamily="34" charset="0"/>
              </a:rPr>
              <a:t>Brain Matter</a:t>
            </a:r>
            <a:r>
              <a:rPr lang="en-US" sz="1400" dirty="0">
                <a:latin typeface="Franklin Gothic Medium Cond" panose="020B0606030402020204" pitchFamily="34" charset="0"/>
              </a:rPr>
              <a:t>. </a:t>
            </a:r>
            <a:r>
              <a:rPr lang="en-US" sz="1400" dirty="0" err="1">
                <a:latin typeface="Franklin Gothic Medium Cond" panose="020B0606030402020204" pitchFamily="34" charset="0"/>
              </a:rPr>
              <a:t>BioNinja</a:t>
            </a:r>
            <a:r>
              <a:rPr lang="en-US" sz="1400" dirty="0">
                <a:latin typeface="Franklin Gothic Medium Cond" panose="020B0606030402020204" pitchFamily="34" charset="0"/>
              </a:rPr>
              <a:t>. https://</a:t>
            </a:r>
            <a:r>
              <a:rPr lang="en-US" sz="1400" dirty="0" err="1">
                <a:latin typeface="Franklin Gothic Medium Cond" panose="020B0606030402020204" pitchFamily="34" charset="0"/>
              </a:rPr>
              <a:t>ib.bioninja.com.au</a:t>
            </a:r>
            <a:r>
              <a:rPr lang="en-US" sz="1400" dirty="0">
                <a:latin typeface="Franklin Gothic Medium Cond" panose="020B0606030402020204" pitchFamily="34" charset="0"/>
              </a:rPr>
              <a:t>/options/option-a-neurobiology-and/a2-the-human-brain/brain-</a:t>
            </a:r>
            <a:r>
              <a:rPr lang="en-US" sz="1400" dirty="0" err="1">
                <a:latin typeface="Franklin Gothic Medium Cond" panose="020B0606030402020204" pitchFamily="34" charset="0"/>
              </a:rPr>
              <a:t>matter.html</a:t>
            </a:r>
            <a:endParaRPr lang="en-US" sz="1400" dirty="0">
              <a:latin typeface="Franklin Gothic Medium Cond" panose="020B0606030402020204" pitchFamily="34" charset="0"/>
            </a:endParaRPr>
          </a:p>
          <a:p>
            <a:pPr marL="457200" indent="-457200">
              <a:lnSpc>
                <a:spcPct val="150000"/>
              </a:lnSpc>
            </a:pPr>
            <a:r>
              <a:rPr lang="en-US" sz="1400" dirty="0">
                <a:latin typeface="Franklin Gothic Medium Cond" panose="020B0606030402020204" pitchFamily="34" charset="0"/>
              </a:rPr>
              <a:t>Cornell, B. (2016b). </a:t>
            </a:r>
            <a:r>
              <a:rPr lang="en-US" sz="1400" i="1" dirty="0">
                <a:latin typeface="Franklin Gothic Medium Cond" panose="020B0606030402020204" pitchFamily="34" charset="0"/>
              </a:rPr>
              <a:t>Brain Sections</a:t>
            </a:r>
            <a:r>
              <a:rPr lang="en-US" sz="1400" dirty="0">
                <a:latin typeface="Franklin Gothic Medium Cond" panose="020B0606030402020204" pitchFamily="34" charset="0"/>
              </a:rPr>
              <a:t>. </a:t>
            </a:r>
            <a:r>
              <a:rPr lang="en-US" sz="1400" dirty="0" err="1">
                <a:latin typeface="Franklin Gothic Medium Cond" panose="020B0606030402020204" pitchFamily="34" charset="0"/>
              </a:rPr>
              <a:t>BioNinja</a:t>
            </a:r>
            <a:r>
              <a:rPr lang="en-US" sz="1400" dirty="0">
                <a:latin typeface="Franklin Gothic Medium Cond" panose="020B0606030402020204" pitchFamily="34" charset="0"/>
              </a:rPr>
              <a:t>. https://</a:t>
            </a:r>
            <a:r>
              <a:rPr lang="en-US" sz="1400" dirty="0" err="1">
                <a:latin typeface="Franklin Gothic Medium Cond" panose="020B0606030402020204" pitchFamily="34" charset="0"/>
              </a:rPr>
              <a:t>ib.bioninja.com.au</a:t>
            </a:r>
            <a:r>
              <a:rPr lang="en-US" sz="1400" dirty="0">
                <a:latin typeface="Franklin Gothic Medium Cond" panose="020B0606030402020204" pitchFamily="34" charset="0"/>
              </a:rPr>
              <a:t>/options/option-a-neurobiology-and/a2-the-human-brain/brain-</a:t>
            </a:r>
            <a:r>
              <a:rPr lang="en-US" sz="1400" dirty="0" err="1">
                <a:latin typeface="Franklin Gothic Medium Cond" panose="020B0606030402020204" pitchFamily="34" charset="0"/>
              </a:rPr>
              <a:t>sections.html</a:t>
            </a:r>
            <a:endParaRPr lang="en-US" sz="1400" dirty="0">
              <a:latin typeface="Franklin Gothic Medium Cond" panose="020B0606030402020204" pitchFamily="34" charset="0"/>
            </a:endParaRPr>
          </a:p>
          <a:p>
            <a:pPr marL="457200" indent="-457200">
              <a:lnSpc>
                <a:spcPct val="150000"/>
              </a:lnSpc>
            </a:pPr>
            <a:r>
              <a:rPr lang="en-US" sz="1400" dirty="0">
                <a:latin typeface="Franklin Gothic Medium Cond" panose="020B0606030402020204" pitchFamily="34" charset="0"/>
              </a:rPr>
              <a:t>Cornell, B. (2016c). </a:t>
            </a:r>
            <a:r>
              <a:rPr lang="en-US" sz="1400" i="1" dirty="0">
                <a:latin typeface="Franklin Gothic Medium Cond" panose="020B0606030402020204" pitchFamily="34" charset="0"/>
              </a:rPr>
              <a:t>Cerebral Hemispheres</a:t>
            </a:r>
            <a:r>
              <a:rPr lang="en-US" sz="1400" dirty="0">
                <a:latin typeface="Franklin Gothic Medium Cond" panose="020B0606030402020204" pitchFamily="34" charset="0"/>
              </a:rPr>
              <a:t>. </a:t>
            </a:r>
            <a:r>
              <a:rPr lang="en-US" sz="1400" dirty="0" err="1">
                <a:latin typeface="Franklin Gothic Medium Cond" panose="020B0606030402020204" pitchFamily="34" charset="0"/>
              </a:rPr>
              <a:t>BioNinja</a:t>
            </a:r>
            <a:r>
              <a:rPr lang="en-US" sz="1400" dirty="0">
                <a:latin typeface="Franklin Gothic Medium Cond" panose="020B0606030402020204" pitchFamily="34" charset="0"/>
              </a:rPr>
              <a:t>. https://</a:t>
            </a:r>
            <a:r>
              <a:rPr lang="en-US" sz="1400" dirty="0" err="1">
                <a:latin typeface="Franklin Gothic Medium Cond" panose="020B0606030402020204" pitchFamily="34" charset="0"/>
              </a:rPr>
              <a:t>ib.bioninja.com.au</a:t>
            </a:r>
            <a:r>
              <a:rPr lang="en-US" sz="1400" dirty="0">
                <a:latin typeface="Franklin Gothic Medium Cond" panose="020B0606030402020204" pitchFamily="34" charset="0"/>
              </a:rPr>
              <a:t>/options/option-a-neurobiology-and/a2-the-human-brain/cerebral-</a:t>
            </a:r>
            <a:r>
              <a:rPr lang="en-US" sz="1400" dirty="0" err="1">
                <a:latin typeface="Franklin Gothic Medium Cond" panose="020B0606030402020204" pitchFamily="34" charset="0"/>
              </a:rPr>
              <a:t>hemispheres.html</a:t>
            </a:r>
            <a:endParaRPr lang="en-US" sz="1400" dirty="0">
              <a:latin typeface="Franklin Gothic Medium Cond" panose="020B0606030402020204" pitchFamily="34" charset="0"/>
            </a:endParaRPr>
          </a:p>
          <a:p>
            <a:pPr marL="457200" indent="-457200">
              <a:lnSpc>
                <a:spcPct val="150000"/>
              </a:lnSpc>
            </a:pPr>
            <a:r>
              <a:rPr lang="en-US" sz="1400" dirty="0" err="1">
                <a:latin typeface="Franklin Gothic Medium Cond" panose="020B0606030402020204" pitchFamily="34" charset="0"/>
              </a:rPr>
              <a:t>Friederici</a:t>
            </a:r>
            <a:r>
              <a:rPr lang="en-US" sz="1400" dirty="0">
                <a:latin typeface="Franklin Gothic Medium Cond" panose="020B0606030402020204" pitchFamily="34" charset="0"/>
              </a:rPr>
              <a:t>, A. D. (2011). The Brain Basis of Language Processing: From Structure to Function. </a:t>
            </a:r>
            <a:r>
              <a:rPr lang="en-US" sz="1400" i="1" dirty="0">
                <a:latin typeface="Franklin Gothic Medium Cond" panose="020B0606030402020204" pitchFamily="34" charset="0"/>
              </a:rPr>
              <a:t>Physiological Reviews, 91</a:t>
            </a:r>
            <a:r>
              <a:rPr lang="en-US" sz="1400" dirty="0">
                <a:latin typeface="Franklin Gothic Medium Cond" panose="020B0606030402020204" pitchFamily="34" charset="0"/>
              </a:rPr>
              <a:t>(4), 1357-1392. https://</a:t>
            </a:r>
            <a:r>
              <a:rPr lang="en-US" sz="1400" dirty="0" err="1">
                <a:latin typeface="Franklin Gothic Medium Cond" panose="020B0606030402020204" pitchFamily="34" charset="0"/>
              </a:rPr>
              <a:t>doi.org</a:t>
            </a:r>
            <a:r>
              <a:rPr lang="en-US" sz="1400" dirty="0">
                <a:latin typeface="Franklin Gothic Medium Cond" panose="020B0606030402020204" pitchFamily="34" charset="0"/>
              </a:rPr>
              <a:t>/10.1152/physrev.00006.2011</a:t>
            </a:r>
          </a:p>
          <a:p>
            <a:pPr marL="457200" indent="-457200">
              <a:lnSpc>
                <a:spcPct val="150000"/>
              </a:lnSpc>
            </a:pPr>
            <a:r>
              <a:rPr lang="en-US" sz="1400" dirty="0">
                <a:latin typeface="Franklin Gothic Medium Cond" panose="020B0606030402020204" pitchFamily="34" charset="0"/>
              </a:rPr>
              <a:t>Hodgson, V. J., </a:t>
            </a:r>
            <a:r>
              <a:rPr lang="en-US" sz="1400" dirty="0" err="1">
                <a:latin typeface="Franklin Gothic Medium Cond" panose="020B0606030402020204" pitchFamily="34" charset="0"/>
              </a:rPr>
              <a:t>Lambon</a:t>
            </a:r>
            <a:r>
              <a:rPr lang="en-US" sz="1400" dirty="0">
                <a:latin typeface="Franklin Gothic Medium Cond" panose="020B0606030402020204" pitchFamily="34" charset="0"/>
              </a:rPr>
              <a:t> Ralph, M. A., Jackson, R. L. (2021). Multiple dimensions underlying the functional organization of the language network. </a:t>
            </a:r>
            <a:r>
              <a:rPr lang="en-US" sz="1400" i="1" dirty="0" err="1">
                <a:latin typeface="Franklin Gothic Medium Cond" panose="020B0606030402020204" pitchFamily="34" charset="0"/>
              </a:rPr>
              <a:t>NeuroImage</a:t>
            </a:r>
            <a:r>
              <a:rPr lang="en-US" sz="1400" i="1" dirty="0">
                <a:latin typeface="Franklin Gothic Medium Cond" panose="020B0606030402020204" pitchFamily="34" charset="0"/>
              </a:rPr>
              <a:t>, 241</a:t>
            </a:r>
            <a:r>
              <a:rPr lang="en-US" sz="1400" dirty="0">
                <a:latin typeface="Franklin Gothic Medium Cond" panose="020B0606030402020204" pitchFamily="34" charset="0"/>
              </a:rPr>
              <a:t>(1), https://</a:t>
            </a:r>
            <a:r>
              <a:rPr lang="en-US" sz="1400" dirty="0" err="1">
                <a:latin typeface="Franklin Gothic Medium Cond" panose="020B0606030402020204" pitchFamily="34" charset="0"/>
              </a:rPr>
              <a:t>doi.org</a:t>
            </a:r>
            <a:r>
              <a:rPr lang="en-US" sz="1400" dirty="0">
                <a:latin typeface="Franklin Gothic Medium Cond" panose="020B0606030402020204" pitchFamily="34" charset="0"/>
              </a:rPr>
              <a:t>/10.1016/j.neuroimage.2021.118444</a:t>
            </a:r>
          </a:p>
          <a:p>
            <a:pPr marL="457200" indent="-457200">
              <a:lnSpc>
                <a:spcPct val="150000"/>
              </a:lnSpc>
            </a:pPr>
            <a:r>
              <a:rPr lang="en-US" sz="1400" dirty="0">
                <a:latin typeface="Franklin Gothic Medium Cond" panose="020B0606030402020204" pitchFamily="34" charset="0"/>
              </a:rPr>
              <a:t>La Corte, E., </a:t>
            </a:r>
            <a:r>
              <a:rPr lang="en-US" sz="1400" dirty="0" err="1">
                <a:latin typeface="Franklin Gothic Medium Cond" panose="020B0606030402020204" pitchFamily="34" charset="0"/>
              </a:rPr>
              <a:t>Eldahaby</a:t>
            </a:r>
            <a:r>
              <a:rPr lang="en-US" sz="1400" dirty="0">
                <a:latin typeface="Franklin Gothic Medium Cond" panose="020B0606030402020204" pitchFamily="34" charset="0"/>
              </a:rPr>
              <a:t>, D., Greco, E., Aquino, D., </a:t>
            </a:r>
            <a:r>
              <a:rPr lang="en-US" sz="1400" dirty="0" err="1">
                <a:latin typeface="Franklin Gothic Medium Cond" panose="020B0606030402020204" pitchFamily="34" charset="0"/>
              </a:rPr>
              <a:t>Bertolini</a:t>
            </a:r>
            <a:r>
              <a:rPr lang="en-US" sz="1400" dirty="0">
                <a:latin typeface="Franklin Gothic Medium Cond" panose="020B0606030402020204" pitchFamily="34" charset="0"/>
              </a:rPr>
              <a:t>, G., Levi, V., </a:t>
            </a:r>
            <a:r>
              <a:rPr lang="en-US" sz="1400" dirty="0" err="1">
                <a:latin typeface="Franklin Gothic Medium Cond" panose="020B0606030402020204" pitchFamily="34" charset="0"/>
              </a:rPr>
              <a:t>Ottenhausen</a:t>
            </a:r>
            <a:r>
              <a:rPr lang="en-US" sz="1400" dirty="0">
                <a:latin typeface="Franklin Gothic Medium Cond" panose="020B0606030402020204" pitchFamily="34" charset="0"/>
              </a:rPr>
              <a:t>, M., </a:t>
            </a:r>
            <a:r>
              <a:rPr lang="en-US" sz="1400" dirty="0" err="1">
                <a:latin typeface="Franklin Gothic Medium Cond" panose="020B0606030402020204" pitchFamily="34" charset="0"/>
              </a:rPr>
              <a:t>Demichelis</a:t>
            </a:r>
            <a:r>
              <a:rPr lang="en-US" sz="1400" dirty="0">
                <a:latin typeface="Franklin Gothic Medium Cond" panose="020B0606030402020204" pitchFamily="34" charset="0"/>
              </a:rPr>
              <a:t>, G., Luigi Michele, R., Francesco, A., Morgan, B., Paolo, S. M., Grazia, B. M., Graziano, S. (2021). The Frontal Aslant Tract: A Systematic Review for Neurosurgical Applications. </a:t>
            </a:r>
            <a:r>
              <a:rPr lang="en-US" sz="1400" i="1" dirty="0">
                <a:latin typeface="Franklin Gothic Medium Cond" panose="020B0606030402020204" pitchFamily="34" charset="0"/>
              </a:rPr>
              <a:t>Frontiers in Neurology</a:t>
            </a:r>
            <a:r>
              <a:rPr lang="en-US" sz="1400" dirty="0">
                <a:latin typeface="Franklin Gothic Medium Cond" panose="020B0606030402020204" pitchFamily="34" charset="0"/>
              </a:rPr>
              <a:t>, 12(1). https://</a:t>
            </a:r>
            <a:r>
              <a:rPr lang="en-US" sz="1400" dirty="0" err="1">
                <a:latin typeface="Franklin Gothic Medium Cond" panose="020B0606030402020204" pitchFamily="34" charset="0"/>
              </a:rPr>
              <a:t>doi.org</a:t>
            </a:r>
            <a:r>
              <a:rPr lang="en-US" sz="1400" dirty="0">
                <a:latin typeface="Franklin Gothic Medium Cond" panose="020B0606030402020204" pitchFamily="34" charset="0"/>
              </a:rPr>
              <a:t>/10.3389/fneur.2021.641586</a:t>
            </a:r>
          </a:p>
          <a:p>
            <a:pPr marL="457200" indent="-457200">
              <a:lnSpc>
                <a:spcPct val="150000"/>
              </a:lnSpc>
            </a:pPr>
            <a:r>
              <a:rPr lang="en-US" sz="1400" dirty="0">
                <a:latin typeface="Franklin Gothic Medium Cond" panose="020B0606030402020204" pitchFamily="34" charset="0"/>
              </a:rPr>
              <a:t>Le </a:t>
            </a:r>
            <a:r>
              <a:rPr lang="en-US" sz="1400" dirty="0" err="1">
                <a:latin typeface="Franklin Gothic Medium Cond" panose="020B0606030402020204" pitchFamily="34" charset="0"/>
              </a:rPr>
              <a:t>Bihan</a:t>
            </a:r>
            <a:r>
              <a:rPr lang="en-US" sz="1400" dirty="0">
                <a:latin typeface="Franklin Gothic Medium Cond" panose="020B0606030402020204" pitchFamily="34" charset="0"/>
              </a:rPr>
              <a:t>, D. (2014), Diffusion MRI: what water tells us about the brain. </a:t>
            </a:r>
            <a:r>
              <a:rPr lang="en-US" sz="1400" i="1" dirty="0">
                <a:latin typeface="Franklin Gothic Medium Cond" panose="020B0606030402020204" pitchFamily="34" charset="0"/>
              </a:rPr>
              <a:t>EMBO Mol Med, 6</a:t>
            </a:r>
            <a:r>
              <a:rPr lang="en-US" sz="1400" dirty="0">
                <a:latin typeface="Franklin Gothic Medium Cond" panose="020B0606030402020204" pitchFamily="34" charset="0"/>
              </a:rPr>
              <a:t>(5) 569-573. https://</a:t>
            </a:r>
            <a:r>
              <a:rPr lang="en-US" sz="1400" dirty="0" err="1">
                <a:latin typeface="Franklin Gothic Medium Cond" panose="020B0606030402020204" pitchFamily="34" charset="0"/>
              </a:rPr>
              <a:t>doi.org</a:t>
            </a:r>
            <a:r>
              <a:rPr lang="en-US" sz="1400" dirty="0">
                <a:latin typeface="Franklin Gothic Medium Cond" panose="020B0606030402020204" pitchFamily="34" charset="0"/>
              </a:rPr>
              <a:t>/10.1002/emmm.201404055</a:t>
            </a:r>
          </a:p>
          <a:p>
            <a:pPr marL="457200" indent="-457200">
              <a:lnSpc>
                <a:spcPct val="150000"/>
              </a:lnSpc>
            </a:pPr>
            <a:r>
              <a:rPr lang="en-US" sz="1400" dirty="0">
                <a:latin typeface="Franklin Gothic Medium Cond" panose="020B0606030402020204" pitchFamily="34" charset="0"/>
              </a:rPr>
              <a:t>López-Barroso, D., de Diego-Balaguer, R. (2017). Language Learning within the Dorsal and Ventral Streams as a Cue for Compensatory Mechanisms in Aphasia Recovery. </a:t>
            </a:r>
            <a:r>
              <a:rPr lang="en-US" sz="1400" i="1" dirty="0">
                <a:latin typeface="Franklin Gothic Medium Cond" panose="020B0606030402020204" pitchFamily="34" charset="0"/>
              </a:rPr>
              <a:t>Frontiers in Human Neuroscience, 11</a:t>
            </a:r>
            <a:r>
              <a:rPr lang="en-US" sz="1400" dirty="0">
                <a:latin typeface="Franklin Gothic Medium Cond" panose="020B0606030402020204" pitchFamily="34" charset="0"/>
              </a:rPr>
              <a:t>(1). https://</a:t>
            </a:r>
            <a:r>
              <a:rPr lang="en-US" sz="1400" dirty="0" err="1">
                <a:latin typeface="Franklin Gothic Medium Cond" panose="020B0606030402020204" pitchFamily="34" charset="0"/>
              </a:rPr>
              <a:t>doi.org</a:t>
            </a:r>
            <a:r>
              <a:rPr lang="en-US" sz="1400" dirty="0">
                <a:latin typeface="Franklin Gothic Medium Cond" panose="020B0606030402020204" pitchFamily="34" charset="0"/>
              </a:rPr>
              <a:t>/10.3389/fnhum.2017.00476  </a:t>
            </a:r>
          </a:p>
          <a:p>
            <a:pPr marL="457200" indent="-457200">
              <a:lnSpc>
                <a:spcPct val="150000"/>
              </a:lnSpc>
            </a:pPr>
            <a:r>
              <a:rPr lang="en-US" sz="1400" dirty="0">
                <a:latin typeface="Franklin Gothic Medium Cond" panose="020B0606030402020204" pitchFamily="34" charset="0"/>
              </a:rPr>
              <a:t>Wei, X., Adamson, H., </a:t>
            </a:r>
            <a:r>
              <a:rPr lang="en-US" sz="1400" dirty="0" err="1">
                <a:latin typeface="Franklin Gothic Medium Cond" panose="020B0606030402020204" pitchFamily="34" charset="0"/>
              </a:rPr>
              <a:t>Schwendemann</a:t>
            </a:r>
            <a:r>
              <a:rPr lang="en-US" sz="1400" dirty="0">
                <a:latin typeface="Franklin Gothic Medium Cond" panose="020B0606030402020204" pitchFamily="34" charset="0"/>
              </a:rPr>
              <a:t>, M., </a:t>
            </a:r>
            <a:r>
              <a:rPr lang="en-US" sz="1400" dirty="0" err="1">
                <a:latin typeface="Franklin Gothic Medium Cond" panose="020B0606030402020204" pitchFamily="34" charset="0"/>
              </a:rPr>
              <a:t>Goucha</a:t>
            </a:r>
            <a:r>
              <a:rPr lang="en-US" sz="1400" dirty="0">
                <a:latin typeface="Franklin Gothic Medium Cond" panose="020B0606030402020204" pitchFamily="34" charset="0"/>
              </a:rPr>
              <a:t>, T., </a:t>
            </a:r>
            <a:r>
              <a:rPr lang="en-US" sz="1400" dirty="0" err="1">
                <a:latin typeface="Franklin Gothic Medium Cond" panose="020B0606030402020204" pitchFamily="34" charset="0"/>
              </a:rPr>
              <a:t>Friederici</a:t>
            </a:r>
            <a:r>
              <a:rPr lang="en-US" sz="1400" dirty="0">
                <a:latin typeface="Franklin Gothic Medium Cond" panose="020B0606030402020204" pitchFamily="34" charset="0"/>
              </a:rPr>
              <a:t>, A. D., </a:t>
            </a:r>
            <a:r>
              <a:rPr lang="en-US" sz="1400" dirty="0" err="1">
                <a:latin typeface="Franklin Gothic Medium Cond" panose="020B0606030402020204" pitchFamily="34" charset="0"/>
              </a:rPr>
              <a:t>Anwander</a:t>
            </a:r>
            <a:r>
              <a:rPr lang="en-US" sz="1400" dirty="0">
                <a:latin typeface="Franklin Gothic Medium Cond" panose="020B0606030402020204" pitchFamily="34" charset="0"/>
              </a:rPr>
              <a:t>, A. (2023). Native language differences in the structural connectome of the human brain. </a:t>
            </a:r>
            <a:r>
              <a:rPr lang="en-US" sz="1400" i="1" dirty="0" err="1">
                <a:latin typeface="Franklin Gothic Medium Cond" panose="020B0606030402020204" pitchFamily="34" charset="0"/>
              </a:rPr>
              <a:t>NeuroImage</a:t>
            </a:r>
            <a:r>
              <a:rPr lang="en-US" sz="1400" i="1" dirty="0">
                <a:latin typeface="Franklin Gothic Medium Cond" panose="020B0606030402020204" pitchFamily="34" charset="0"/>
              </a:rPr>
              <a:t>, 270</a:t>
            </a:r>
            <a:r>
              <a:rPr lang="en-US" sz="1400" dirty="0">
                <a:latin typeface="Franklin Gothic Medium Cond" panose="020B0606030402020204" pitchFamily="34" charset="0"/>
              </a:rPr>
              <a:t>(1). https://</a:t>
            </a:r>
            <a:r>
              <a:rPr lang="en-US" sz="1400" dirty="0" err="1">
                <a:latin typeface="Franklin Gothic Medium Cond" panose="020B0606030402020204" pitchFamily="34" charset="0"/>
              </a:rPr>
              <a:t>doi.org</a:t>
            </a:r>
            <a:r>
              <a:rPr lang="en-US" sz="1400" dirty="0">
                <a:latin typeface="Franklin Gothic Medium Cond" panose="020B0606030402020204" pitchFamily="34" charset="0"/>
              </a:rPr>
              <a:t>/10.1016/j.neuroimage.2023.119955</a:t>
            </a:r>
          </a:p>
          <a:p>
            <a:pPr marL="457200" indent="-457200">
              <a:lnSpc>
                <a:spcPct val="150000"/>
              </a:lnSpc>
            </a:pPr>
            <a:r>
              <a:rPr lang="en-US" sz="1400" dirty="0">
                <a:latin typeface="Franklin Gothic Medium Cond" panose="020B0606030402020204" pitchFamily="34" charset="0"/>
              </a:rPr>
              <a:t>World Science Festival [</a:t>
            </a:r>
            <a:r>
              <a:rPr lang="en-US" sz="1400" dirty="0" err="1">
                <a:latin typeface="Franklin Gothic Medium Cond" panose="020B0606030402020204" pitchFamily="34" charset="0"/>
              </a:rPr>
              <a:t>WorldScienceFestival</a:t>
            </a:r>
            <a:r>
              <a:rPr lang="en-US" sz="1400" dirty="0">
                <a:latin typeface="Franklin Gothic Medium Cond" panose="020B0606030402020204" pitchFamily="34" charset="0"/>
              </a:rPr>
              <a:t>]. (2019, May 01). </a:t>
            </a:r>
            <a:r>
              <a:rPr lang="en-US" sz="1400" i="1" dirty="0">
                <a:latin typeface="Franklin Gothic Medium Cond" panose="020B0606030402020204" pitchFamily="34" charset="0"/>
              </a:rPr>
              <a:t>What is the Connectome? Mapping Neurons in the Brain</a:t>
            </a:r>
            <a:r>
              <a:rPr lang="en-US" sz="1400" dirty="0">
                <a:latin typeface="Franklin Gothic Medium Cond" panose="020B0606030402020204" pitchFamily="34" charset="0"/>
              </a:rPr>
              <a:t> [Video]. YouTube. https://</a:t>
            </a:r>
            <a:r>
              <a:rPr lang="en-US" sz="1400" dirty="0" err="1">
                <a:latin typeface="Franklin Gothic Medium Cond" panose="020B0606030402020204" pitchFamily="34" charset="0"/>
              </a:rPr>
              <a:t>youtu.be</a:t>
            </a:r>
            <a:r>
              <a:rPr lang="en-US" sz="1400" dirty="0">
                <a:latin typeface="Franklin Gothic Medium Cond" panose="020B0606030402020204" pitchFamily="34" charset="0"/>
              </a:rPr>
              <a:t>/</a:t>
            </a:r>
            <a:r>
              <a:rPr lang="en-US" sz="1400" dirty="0" err="1">
                <a:latin typeface="Franklin Gothic Medium Cond" panose="020B0606030402020204" pitchFamily="34" charset="0"/>
              </a:rPr>
              <a:t>fpZL-QcOqFs</a:t>
            </a:r>
            <a:endParaRPr lang="en-US" sz="1400" dirty="0">
              <a:latin typeface="Franklin Gothic Medium Cond" panose="020B0606030402020204" pitchFamily="34" charset="0"/>
            </a:endParaRPr>
          </a:p>
        </p:txBody>
      </p:sp>
      <p:sp>
        <p:nvSpPr>
          <p:cNvPr id="17" name="Footer Placeholder 18">
            <a:extLst>
              <a:ext uri="{FF2B5EF4-FFF2-40B4-BE49-F238E27FC236}">
                <a16:creationId xmlns:a16="http://schemas.microsoft.com/office/drawing/2014/main" id="{781C14C8-D737-533C-2C54-7922DEB509CC}"/>
              </a:ext>
            </a:extLst>
          </p:cNvPr>
          <p:cNvSpPr>
            <a:spLocks noGrp="1"/>
          </p:cNvSpPr>
          <p:nvPr>
            <p:ph type="ftr" sz="quarter" idx="11"/>
          </p:nvPr>
        </p:nvSpPr>
        <p:spPr>
          <a:xfrm>
            <a:off x="257672" y="12862"/>
            <a:ext cx="4114800" cy="365125"/>
          </a:xfrm>
        </p:spPr>
        <p:txBody>
          <a:bodyPr/>
          <a:lstStyle/>
          <a:p>
            <a:pPr algn="l"/>
            <a:r>
              <a:rPr lang="en-US" dirty="0"/>
              <a:t>Lara </a:t>
            </a:r>
            <a:r>
              <a:rPr lang="en-US" dirty="0" err="1"/>
              <a:t>Baldez</a:t>
            </a:r>
            <a:r>
              <a:rPr lang="en-US" dirty="0"/>
              <a:t> Duque Ribeiro</a:t>
            </a:r>
          </a:p>
        </p:txBody>
      </p:sp>
      <p:sp>
        <p:nvSpPr>
          <p:cNvPr id="18" name="Slide Number Placeholder 19">
            <a:extLst>
              <a:ext uri="{FF2B5EF4-FFF2-40B4-BE49-F238E27FC236}">
                <a16:creationId xmlns:a16="http://schemas.microsoft.com/office/drawing/2014/main" id="{EE91E9E6-C667-2F2F-C41B-3D76B76E41AE}"/>
              </a:ext>
            </a:extLst>
          </p:cNvPr>
          <p:cNvSpPr>
            <a:spLocks noGrp="1"/>
          </p:cNvSpPr>
          <p:nvPr>
            <p:ph type="sldNum" sz="quarter" idx="12"/>
          </p:nvPr>
        </p:nvSpPr>
        <p:spPr>
          <a:xfrm>
            <a:off x="9191128" y="12862"/>
            <a:ext cx="2743200" cy="365125"/>
          </a:xfrm>
        </p:spPr>
        <p:txBody>
          <a:bodyPr/>
          <a:lstStyle/>
          <a:p>
            <a:r>
              <a:rPr lang="en-US" dirty="0"/>
              <a:t>PSYC 216, May 2023 | </a:t>
            </a:r>
            <a:fld id="{2E7CF561-7B99-E44F-923B-79EAE0C9A6C5}" type="slidenum">
              <a:rPr lang="en-US" smtClean="0"/>
              <a:t>6</a:t>
            </a:fld>
            <a:endParaRPr lang="en-US" dirty="0"/>
          </a:p>
        </p:txBody>
      </p:sp>
    </p:spTree>
    <p:extLst>
      <p:ext uri="{BB962C8B-B14F-4D97-AF65-F5344CB8AC3E}">
        <p14:creationId xmlns:p14="http://schemas.microsoft.com/office/powerpoint/2010/main" val="3967649234"/>
      </p:ext>
    </p:extLst>
  </p:cSld>
  <p:clrMapOvr>
    <a:masterClrMapping/>
  </p:clrMapOvr>
  <p:transition spd="slow">
    <p:push/>
  </p:transition>
</p:sld>
</file>

<file path=ppt/theme/theme1.xml><?xml version="1.0" encoding="utf-8"?>
<a:theme xmlns:a="http://schemas.openxmlformats.org/drawingml/2006/main" name="Office Theme">
  <a:themeElements>
    <a:clrScheme name="Custom 1">
      <a:dk1>
        <a:srgbClr val="000000"/>
      </a:dk1>
      <a:lt1>
        <a:srgbClr val="FFFFFF"/>
      </a:lt1>
      <a:dk2>
        <a:srgbClr val="29193E"/>
      </a:dk2>
      <a:lt2>
        <a:srgbClr val="E5E2E8"/>
      </a:lt2>
      <a:accent1>
        <a:srgbClr val="58B345"/>
      </a:accent1>
      <a:accent2>
        <a:srgbClr val="7EAD39"/>
      </a:accent2>
      <a:accent3>
        <a:srgbClr val="A6A341"/>
      </a:accent3>
      <a:accent4>
        <a:srgbClr val="B17C3E"/>
      </a:accent4>
      <a:accent5>
        <a:srgbClr val="C15E4B"/>
      </a:accent5>
      <a:accent6>
        <a:srgbClr val="B13A5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2184</TotalTime>
  <Words>1582</Words>
  <Application>Microsoft Macintosh PowerPoint</Application>
  <PresentationFormat>Widescreen</PresentationFormat>
  <Paragraphs>143</Paragraphs>
  <Slides>6</Slides>
  <Notes>6</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Arial</vt:lpstr>
      <vt:lpstr>Calibri</vt:lpstr>
      <vt:lpstr>Calibri Light</vt:lpstr>
      <vt:lpstr>Franklin Gothic Demi</vt:lpstr>
      <vt:lpstr>Franklin Gothic Demi Cond</vt:lpstr>
      <vt:lpstr>Franklin Gothic Heavy</vt:lpstr>
      <vt:lpstr>Franklin Gothic Medium</vt:lpstr>
      <vt:lpstr>Franklin Gothic Medium Cond</vt:lpstr>
      <vt:lpstr>Office Theme</vt:lpstr>
      <vt:lpstr>Native language differences in the structural connectome of the human brain</vt:lpstr>
      <vt:lpstr>Native language differences in the structural connectome of the human brain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Lara Baldez Duque Ribeiro</dc:creator>
  <cp:lastModifiedBy>Lara Baldez Duque Ribeiro</cp:lastModifiedBy>
  <cp:revision>15</cp:revision>
  <dcterms:created xsi:type="dcterms:W3CDTF">2023-05-19T14:13:12Z</dcterms:created>
  <dcterms:modified xsi:type="dcterms:W3CDTF">2023-05-21T16:35:52Z</dcterms:modified>
</cp:coreProperties>
</file>